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Poppins Bold" charset="1" panose="00000800000000000000"/>
      <p:regular r:id="rId26"/>
    </p:embeddedFont>
    <p:embeddedFont>
      <p:font typeface="Poppins Semi-Bold" charset="1" panose="00000700000000000000"/>
      <p:regular r:id="rId27"/>
    </p:embeddedFont>
    <p:embeddedFont>
      <p:font typeface="Poppins" charset="1" panose="00000500000000000000"/>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notesMasters/notesMaster1.xml" Type="http://schemas.openxmlformats.org/officeDocument/2006/relationships/notesMaster"/><Relationship Id="rId24" Target="theme/theme2.xml" Type="http://schemas.openxmlformats.org/officeDocument/2006/relationships/theme"/><Relationship Id="rId25" Target="notesSlides/notesSlide1.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notesSlides/notesSlide2.xml" Type="http://schemas.openxmlformats.org/officeDocument/2006/relationships/notesSlide"/><Relationship Id="rId29" Target="notesSlides/notesSlide3.xml" Type="http://schemas.openxmlformats.org/officeDocument/2006/relationships/notesSlide"/><Relationship Id="rId3" Target="viewProps.xml" Type="http://schemas.openxmlformats.org/officeDocument/2006/relationships/viewProps"/><Relationship Id="rId30" Target="notesSlides/notesSlide4.xml" Type="http://schemas.openxmlformats.org/officeDocument/2006/relationships/notesSlide"/><Relationship Id="rId31" Target="notesSlides/notesSlide5.xml" Type="http://schemas.openxmlformats.org/officeDocument/2006/relationships/notesSlide"/><Relationship Id="rId32" Target="notesSlides/notesSlide6.xml" Type="http://schemas.openxmlformats.org/officeDocument/2006/relationships/notesSlide"/><Relationship Id="rId33" Target="notesSlides/notesSlide7.xml" Type="http://schemas.openxmlformats.org/officeDocument/2006/relationships/notesSlide"/><Relationship Id="rId34" Target="notesSlides/notesSlide8.xml" Type="http://schemas.openxmlformats.org/officeDocument/2006/relationships/notesSlide"/><Relationship Id="rId35" Target="notesSlides/notesSlide9.xml" Type="http://schemas.openxmlformats.org/officeDocument/2006/relationships/notesSlide"/><Relationship Id="rId36" Target="notesSlides/notesSlide10.xml" Type="http://schemas.openxmlformats.org/officeDocument/2006/relationships/notesSlide"/><Relationship Id="rId37" Target="notesSlides/notesSlide11.xml" Type="http://schemas.openxmlformats.org/officeDocument/2006/relationships/notesSlide"/><Relationship Id="rId38" Target="notesSlides/notesSlide12.xml" Type="http://schemas.openxmlformats.org/officeDocument/2006/relationships/notesSlide"/><Relationship Id="rId39" Target="notesSlides/notesSlide13.xml" Type="http://schemas.openxmlformats.org/officeDocument/2006/relationships/notesSlide"/><Relationship Id="rId4" Target="theme/theme1.xml" Type="http://schemas.openxmlformats.org/officeDocument/2006/relationships/theme"/><Relationship Id="rId40" Target="notesSlides/notesSlide14.xml" Type="http://schemas.openxmlformats.org/officeDocument/2006/relationships/notesSlide"/><Relationship Id="rId41" Target="fonts/font41.fntdata" Type="http://schemas.openxmlformats.org/officeDocument/2006/relationships/font"/><Relationship Id="rId42" Target="notesSlides/notesSlide15.xml" Type="http://schemas.openxmlformats.org/officeDocument/2006/relationships/notesSlide"/><Relationship Id="rId43" Target="notesSlides/notesSlide16.xml" Type="http://schemas.openxmlformats.org/officeDocument/2006/relationships/notesSlide"/><Relationship Id="rId44" Target="notesSlides/notesSlide17.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Sumber proyek: ets-ml-2.ipynb. Ilustrasi sampul dibuat dengan AI, bukan citra klinis atau output model.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Latar belakang: https://www.nei.nih.gov/eye-health-information/eye-conditions-and-diseases/glaucoma ; laporan AAO PMID30322450 https://pubmed.ncbi.nlm.nih.gov/30322450/ . Penelitian berupa eksperimen regresi pada data tersedia. Diagnosis hanya karakteristik kohort. Rancangan: pendahuluan, metode, hasil, pembahasan, kesimpulan. Model belum menggantikan OCT.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Sumber: urutan implementasi ets-ml-2.ipynb, sel 4–30. Fitur RETFound dibekukan sebelum split. StandardScaler serta tuning hanya fit pada data latih tiap fold. Eksperimen tambahan memakai outer split yang sama.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Sumber arsitektur ViT-L/16: https://raw.githubusercontent.com/rmaphoh/RETFound_MAE/main/models_vit.py (RETFound_mae: patch_size=16, embed_dim=1024, depth=24, num_heads=16). Implementasi proyek: sel 14 dan 16, global average pooling patch tokens dan fc_norm, head=Identity, requires_grad=False, fitur (152,1024). 224/16=14 patch per sisi, sehingga 196 patch. Diagram menyederhanakan token posisi dan CLS. Regresor OLS/Ridge atau wrapper multioutput Lasso/ElasticNet.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Sumber: notebook sel 10, 16, 18, 20, 22, dan 28. Foto RGB melalui resize dan center crop 224 × 224, lalu normalisasi ImageNet. Target OD memakai refleksi indeks (10 − i) mod 12. Encoder frozen. StandardScaler serta tuning hanya fit pada training. OOF menguji pasien yang tidak masuk pelatihan. Bootstrap mengambil ulang pasien beserta kedua matanya. Ensemble merata-ratakan Ridge dan ExtraTrees. UCB1 memilih uncertainty, diversity, atau random berdasarkan reward holdout internal training.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Sumber: output sel 6. Metadata awal memuat 175 record, 90 pasien, 97 glaukoma, 78 normal, 89 OD dan 86 OS. Gambar A berasal dari countplot dan audit label kosong. Gambar B berasal dari boxplot label mentah, sebelum seleksi kohort dan refleksi target OD. Keduanya merupakan eksplorasi data, bukan prediksi model.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Sumber: output sel 6 dan 8. Heatmap memperlihatkan label RNFL pada setiap record dan sektor. Audit menemukan dua record berlabel tidak lengkap dan lima nilai RNFL nol. Montase memeriksa fokus, pencahayaan, serta cakupan retina. Sebanyak 21 record tidak memiliki foto terpilih. Pairing berdasarkan pasien dan mata masih provisional. Citra OCT serta tanggal pasangan belum tersedia untuk verifikasi.</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Sumber: output sel 8 dan 10. A menampilkan foto kedua mata untuk inspeksi temporal dan nasal. B merupakan referensi posisi jam, bukan hasil prediksi. C membandingkan profil target sebelum dan sesudah refleksi OD. Pemetaan indeks OD ialah (10 − i) mod 12. Kohort akhir: 152 record dari 84 pasien, terdiri atas 78 OD dan 74 OS, dengan 82 glaukoma dan 70 normal.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Sumber: output sel 12 dan 16. Jumlah pasien validasi pada lima outer fold adalah 17, 17, 16, 17, dan 17. Kedua mata pasien selalu masuk grup yang sama. Fitur original dan fotometrik masing-masing berukuran 152 × 1.024. PCA dua dimensi hanya dipakai untuk eksplorasi dan tidak menjadi masukan regresi.</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Sumber: output sel 18 dan 24. Tuning memakai inner GroupKFold tiga fold di dalam outer GroupKFold lima fold. Judul 5-fold tuning pada gambar asli tidak sesuai jumlah inner fold. Panel Ridge kosong sehingga kurvanya tidak dapat ditafsirkan. Grid alpha Ridge: 0,1; 10; 1.000. Lasso dan ElasticNet: 0,01; 0,1; 1. ElasticNet menguji l1_ratio 0,1 dan 0,9. Peringatan konvergensi membutuhkan peninjauan.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Sumber: ets_oof_overall_metrics.csv, ets_oof_patient_bootstrap_ci.csv, dan ets_oof_metrics_by_clock_hour.csv. MAE OOF Ridge 20,6288 µm, ElasticNet 21,4642 µm, Lasso 22,0536 µm, dan OLS 24,6846 µm. Ridge menurunkan MAE sekitar 16,4% terhadap OLS. CI 95% MAE Ridge berasal dari 1.000 bootstrap pasien tanpa refit. R² keseluruhan memakai target yang diratakan dari 12 sektor. Beberapa sektor memiliki R² negatif.</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Sumber: output sel 30. Grafik memakai prediksi OOF Ridge, yang dipilih berdasarkan rerata inner-CV MSE. Titik menggabungkan 152 record dan 12 sektor. Residual adalah prediksi dikurangi aktual. Kecenderungan meremehkan nilai RNFL tinggi merupakan interpretasi visual, bukan hasil uji kalibrasi formal.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Sumber: output sel 20 dan 22. Ensemble adalah rerata Ridge dan ExtraTrees. Augmentasi fotometrik hanya menambah data latih, sementara validasi memakai view asli. Perbaikan MAE terhadap Ridge sekitar 0,095 µm, dengan bootstrap pasien berpasangan yang mencakup nol. Simulasi UCB1 memakai Ridge alpha 10, sekitar 30% pasien pool awal dan tambahan 10% per putaran selama lima putaran. Rerata akhir adalah 46,2 pasien berlabel. Reward holdout berasal dari training, sedangkan outer validation hanya untuk evaluasi.</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Pembahasan bersumber dari hasil proyek. Penjelasan regularisasi merupakan interpretasi, bukan uji mekanisme kausal. Perbedaan R² keseluruhan dan R² sektor perlu diperhatikan. Keterbatasan lain mencakup nilai RNFL nol, kualitas foto yang bervariasi, peringatan konvergensi, dan panel tuning Ridge kosong. Tindak lanjut: verifikasi label dan pairing, perluas kohort, uji backbone pembanding, ulangi seed bandit, dan lakukan evaluasi eksternal.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Pembahasan bersumber dari hasil proyek. Penjelasan regularisasi merupakan interpretasi, bukan uji mekanisme kausal. Perbedaan R² keseluruhan dan R² sektor perlu diperhatikan. Keterbatasan lain mencakup nilai RNFL nol, kualitas foto yang bervariasi, peringatan konvergensi, dan panel tuning Ridge kosong. Tindak lanjut: verifikasi label dan pairing, perluas kohort, uji backbone pembanding, ulangi seed bandit, dan lakukan evaluasi eksternal.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Seluruh metrik berasal dari ets-ml-2.ipynb dan rnfl_ets_outputs. Semua 15 gambar output asli tetap disertakan. Referensi RETFound: Zhou dkk., Nature 622, 156–163 (2023), https://www.nature.com/articles/s41586-023-06555-x . Kode arsitektur: https://raw.githubusercontent.com/rmaphoh/RETFound_MAE/main/models_vit.py . Latar belakang glaukoma: https://www.nei.nih.gov/eye-health-information/eye-conditions-and-diseases/glaucoma . Rujukan OCT: https://pubmed.ncbi.nlm.nih.gov/30322450/ . Ilustrasi sampul dibuat dengan AI dan bukan citra klinis.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Seluruh metrik berasal dari ets-ml-2.ipynb dan rnfl_ets_outputs. Semua 15 gambar output asli tetap disertakan. Referensi RETFound: Zhou dkk., Nature 622, 156–163 (2023), https://www.nature.com/articles/s41586-023-06555-x . Kode arsitektur: https://raw.githubusercontent.com/rmaphoh/RETFound_MAE/main/models_vit.py . Latar belakang glaukoma: https://www.nei.nih.gov/eye-health-information/eye-conditions-and-diseases/glaucoma . Rujukan OCT: https://pubmed.ncbi.nlm.nih.gov/30322450/ . Ilustrasi sampul dibuat dengan AI dan bukan citra klinis.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 Id="rId8"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2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5.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979881" y="782118"/>
            <a:ext cx="434073" cy="434073"/>
          </a:xfrm>
          <a:custGeom>
            <a:avLst/>
            <a:gdLst/>
            <a:ahLst/>
            <a:cxnLst/>
            <a:rect r="r" b="b" t="t" l="l"/>
            <a:pathLst>
              <a:path h="434073" w="434073">
                <a:moveTo>
                  <a:pt x="0" y="0"/>
                </a:moveTo>
                <a:lnTo>
                  <a:pt x="434073" y="0"/>
                </a:lnTo>
                <a:lnTo>
                  <a:pt x="434073" y="434074"/>
                </a:lnTo>
                <a:lnTo>
                  <a:pt x="0" y="4340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1693118" y="1417320"/>
            <a:ext cx="6293310" cy="7863840"/>
            <a:chOff x="0" y="0"/>
            <a:chExt cx="8391080" cy="10485120"/>
          </a:xfrm>
        </p:grpSpPr>
        <p:sp>
          <p:nvSpPr>
            <p:cNvPr name="Freeform 6" id="6" descr="Ilustrasi konseptual buatan AI"/>
            <p:cNvSpPr/>
            <p:nvPr/>
          </p:nvSpPr>
          <p:spPr>
            <a:xfrm flipH="false" flipV="false" rot="0">
              <a:off x="0" y="0"/>
              <a:ext cx="8391144" cy="10485120"/>
            </a:xfrm>
            <a:custGeom>
              <a:avLst/>
              <a:gdLst/>
              <a:ahLst/>
              <a:cxnLst/>
              <a:rect r="r" b="b" t="t" l="l"/>
              <a:pathLst>
                <a:path h="10485120" w="8391144">
                  <a:moveTo>
                    <a:pt x="0" y="0"/>
                  </a:moveTo>
                  <a:lnTo>
                    <a:pt x="8391144" y="0"/>
                  </a:lnTo>
                  <a:lnTo>
                    <a:pt x="8391144" y="10485120"/>
                  </a:lnTo>
                  <a:lnTo>
                    <a:pt x="0" y="10485120"/>
                  </a:lnTo>
                  <a:lnTo>
                    <a:pt x="0" y="0"/>
                  </a:lnTo>
                  <a:close/>
                </a:path>
              </a:pathLst>
            </a:custGeom>
            <a:blipFill>
              <a:blip r:embed="rId6"/>
              <a:stretch>
                <a:fillRect l="0" t="0" r="0" b="0"/>
              </a:stretch>
            </a:blipFill>
          </p:spPr>
        </p:sp>
      </p:grpSp>
      <p:sp>
        <p:nvSpPr>
          <p:cNvPr name="TextBox 7" id="7"/>
          <p:cNvSpPr txBox="true"/>
          <p:nvPr/>
        </p:nvSpPr>
        <p:spPr>
          <a:xfrm rot="0">
            <a:off x="1270250" y="1257986"/>
            <a:ext cx="10815145" cy="3284817"/>
          </a:xfrm>
          <a:prstGeom prst="rect">
            <a:avLst/>
          </a:prstGeom>
        </p:spPr>
        <p:txBody>
          <a:bodyPr anchor="t" rtlCol="false" tIns="0" lIns="0" bIns="0" rIns="0">
            <a:spAutoFit/>
          </a:bodyPr>
          <a:lstStyle/>
          <a:p>
            <a:pPr algn="l">
              <a:lnSpc>
                <a:spcPts val="8609"/>
              </a:lnSpc>
            </a:pPr>
            <a:r>
              <a:rPr lang="en-US" sz="6080" b="true">
                <a:solidFill>
                  <a:srgbClr val="FFFFFF"/>
                </a:solidFill>
                <a:latin typeface="Poppins Bold"/>
                <a:ea typeface="Poppins Bold"/>
                <a:cs typeface="Poppins Bold"/>
                <a:sym typeface="Poppins Bold"/>
              </a:rPr>
              <a:t>Estimasi nilai</a:t>
            </a:r>
            <a:r>
              <a:rPr lang="en-US" sz="6080" b="true">
                <a:solidFill>
                  <a:srgbClr val="FFFFFF"/>
                </a:solidFill>
                <a:latin typeface="Poppins Bold"/>
                <a:ea typeface="Poppins Bold"/>
                <a:cs typeface="Poppins Bold"/>
                <a:sym typeface="Poppins Bold"/>
              </a:rPr>
              <a:t> RNFL</a:t>
            </a:r>
          </a:p>
          <a:p>
            <a:pPr algn="l">
              <a:lnSpc>
                <a:spcPts val="8609"/>
              </a:lnSpc>
            </a:pPr>
            <a:r>
              <a:rPr lang="en-US" sz="6080" b="true">
                <a:solidFill>
                  <a:srgbClr val="FFFFFF"/>
                </a:solidFill>
                <a:latin typeface="Poppins Bold"/>
                <a:ea typeface="Poppins Bold"/>
                <a:cs typeface="Poppins Bold"/>
                <a:sym typeface="Poppins Bold"/>
              </a:rPr>
              <a:t>dari Citra Fundus Retina untuk Skrining Glaukoma</a:t>
            </a:r>
          </a:p>
        </p:txBody>
      </p:sp>
      <p:sp>
        <p:nvSpPr>
          <p:cNvPr name="TextBox 8" id="8"/>
          <p:cNvSpPr txBox="true"/>
          <p:nvPr/>
        </p:nvSpPr>
        <p:spPr>
          <a:xfrm rot="0">
            <a:off x="1342563" y="4728901"/>
            <a:ext cx="9536258" cy="595275"/>
          </a:xfrm>
          <a:prstGeom prst="rect">
            <a:avLst/>
          </a:prstGeom>
        </p:spPr>
        <p:txBody>
          <a:bodyPr anchor="t" rtlCol="false" tIns="0" lIns="0" bIns="0" rIns="0">
            <a:spAutoFit/>
          </a:bodyPr>
          <a:lstStyle/>
          <a:p>
            <a:pPr algn="l">
              <a:lnSpc>
                <a:spcPts val="4672"/>
              </a:lnSpc>
            </a:pPr>
            <a:r>
              <a:rPr lang="en-US" sz="3299" b="true">
                <a:solidFill>
                  <a:srgbClr val="FFFFFF"/>
                </a:solidFill>
                <a:latin typeface="Poppins Semi-Bold"/>
                <a:ea typeface="Poppins Semi-Bold"/>
                <a:cs typeface="Poppins Semi-Bold"/>
                <a:sym typeface="Poppins Semi-Bold"/>
              </a:rPr>
              <a:t>Regresi 12 sektor dengan fitur RETFound</a:t>
            </a:r>
          </a:p>
        </p:txBody>
      </p:sp>
      <p:sp>
        <p:nvSpPr>
          <p:cNvPr name="TextBox 9" id="9"/>
          <p:cNvSpPr txBox="true"/>
          <p:nvPr/>
        </p:nvSpPr>
        <p:spPr>
          <a:xfrm rot="0">
            <a:off x="1342563" y="8766810"/>
            <a:ext cx="8046720" cy="971550"/>
          </a:xfrm>
          <a:prstGeom prst="rect">
            <a:avLst/>
          </a:prstGeom>
        </p:spPr>
        <p:txBody>
          <a:bodyPr anchor="t" rtlCol="false" tIns="0" lIns="0" bIns="0" rIns="0">
            <a:spAutoFit/>
          </a:bodyPr>
          <a:lstStyle/>
          <a:p>
            <a:pPr algn="l">
              <a:lnSpc>
                <a:spcPts val="3256"/>
              </a:lnSpc>
            </a:pPr>
            <a:r>
              <a:rPr lang="en-US" sz="2300" b="true">
                <a:solidFill>
                  <a:srgbClr val="FFFFFF"/>
                </a:solidFill>
                <a:latin typeface="Poppins Semi-Bold"/>
                <a:ea typeface="Poppins Semi-Bold"/>
                <a:cs typeface="Poppins Semi-Bold"/>
                <a:sym typeface="Poppins Semi-Bold"/>
              </a:rPr>
              <a:t>ETS Machine Learning</a:t>
            </a:r>
          </a:p>
          <a:p>
            <a:pPr algn="l">
              <a:lnSpc>
                <a:spcPts val="3256"/>
              </a:lnSpc>
            </a:pPr>
            <a:r>
              <a:rPr lang="en-US" sz="2300" b="true">
                <a:solidFill>
                  <a:srgbClr val="FFFFFF"/>
                </a:solidFill>
                <a:latin typeface="Poppins Semi-Bold"/>
                <a:ea typeface="Poppins Semi-Bold"/>
                <a:cs typeface="Poppins Semi-Bold"/>
                <a:sym typeface="Poppins Semi-Bold"/>
              </a:rPr>
              <a:t>2026</a:t>
            </a:r>
          </a:p>
        </p:txBody>
      </p:sp>
      <p:sp>
        <p:nvSpPr>
          <p:cNvPr name="TextBox 10" id="10"/>
          <p:cNvSpPr txBox="true"/>
          <p:nvPr/>
        </p:nvSpPr>
        <p:spPr>
          <a:xfrm rot="0">
            <a:off x="1342563" y="5641040"/>
            <a:ext cx="9536258" cy="595275"/>
          </a:xfrm>
          <a:prstGeom prst="rect">
            <a:avLst/>
          </a:prstGeom>
        </p:spPr>
        <p:txBody>
          <a:bodyPr anchor="t" rtlCol="false" tIns="0" lIns="0" bIns="0" rIns="0">
            <a:spAutoFit/>
          </a:bodyPr>
          <a:lstStyle/>
          <a:p>
            <a:pPr algn="l">
              <a:lnSpc>
                <a:spcPts val="4672"/>
              </a:lnSpc>
            </a:pPr>
            <a:r>
              <a:rPr lang="en-US" b="true" sz="3299">
                <a:solidFill>
                  <a:srgbClr val="FFDE59"/>
                </a:solidFill>
                <a:latin typeface="Poppins Semi-Bold"/>
                <a:ea typeface="Poppins Semi-Bold"/>
                <a:cs typeface="Poppins Semi-Bold"/>
                <a:sym typeface="Poppins Semi-Bold"/>
              </a:rPr>
              <a:t>Kelompok Madic Image</a:t>
            </a:r>
          </a:p>
        </p:txBody>
      </p:sp>
      <p:sp>
        <p:nvSpPr>
          <p:cNvPr name="TextBox 11" id="11"/>
          <p:cNvSpPr txBox="true"/>
          <p:nvPr/>
        </p:nvSpPr>
        <p:spPr>
          <a:xfrm rot="0">
            <a:off x="1342563" y="6407765"/>
            <a:ext cx="8046720" cy="1222781"/>
          </a:xfrm>
          <a:prstGeom prst="rect">
            <a:avLst/>
          </a:prstGeom>
        </p:spPr>
        <p:txBody>
          <a:bodyPr anchor="t" rtlCol="false" tIns="0" lIns="0" bIns="0" rIns="0">
            <a:spAutoFit/>
          </a:bodyPr>
          <a:lstStyle/>
          <a:p>
            <a:pPr algn="l">
              <a:lnSpc>
                <a:spcPts val="3256"/>
              </a:lnSpc>
            </a:pPr>
            <a:r>
              <a:rPr lang="en-US" sz="2300" b="true">
                <a:solidFill>
                  <a:srgbClr val="FFFFFF"/>
                </a:solidFill>
                <a:latin typeface="Poppins Semi-Bold"/>
                <a:ea typeface="Poppins Semi-Bold"/>
                <a:cs typeface="Poppins Semi-Bold"/>
                <a:sym typeface="Poppins Semi-Bold"/>
              </a:rPr>
              <a:t>M.</a:t>
            </a:r>
            <a:r>
              <a:rPr lang="en-US" sz="2300" b="true">
                <a:solidFill>
                  <a:srgbClr val="FFFFFF"/>
                </a:solidFill>
                <a:latin typeface="Poppins Semi-Bold"/>
                <a:ea typeface="Poppins Semi-Bold"/>
                <a:cs typeface="Poppins Semi-Bold"/>
                <a:sym typeface="Poppins Semi-Bold"/>
              </a:rPr>
              <a:t> Nurhadyatullah Kusharyadi / 23083010049</a:t>
            </a:r>
          </a:p>
          <a:p>
            <a:pPr algn="l">
              <a:lnSpc>
                <a:spcPts val="3256"/>
              </a:lnSpc>
            </a:pPr>
            <a:r>
              <a:rPr lang="en-US" sz="2300" b="true">
                <a:solidFill>
                  <a:srgbClr val="FFFFFF"/>
                </a:solidFill>
                <a:latin typeface="Poppins Semi-Bold"/>
                <a:ea typeface="Poppins Semi-Bold"/>
                <a:cs typeface="Poppins Semi-Bold"/>
                <a:sym typeface="Poppins Semi-Bold"/>
              </a:rPr>
              <a:t>Septia Dini Arifta / 23083010040</a:t>
            </a:r>
          </a:p>
          <a:p>
            <a:pPr algn="l">
              <a:lnSpc>
                <a:spcPts val="3256"/>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1713090" y="1431284"/>
            <a:ext cx="659244" cy="659244"/>
          </a:xfrm>
          <a:custGeom>
            <a:avLst/>
            <a:gdLst/>
            <a:ahLst/>
            <a:cxnLst/>
            <a:rect r="r" b="b" t="t" l="l"/>
            <a:pathLst>
              <a:path h="659244" w="659244">
                <a:moveTo>
                  <a:pt x="0" y="0"/>
                </a:moveTo>
                <a:lnTo>
                  <a:pt x="659245" y="0"/>
                </a:lnTo>
                <a:lnTo>
                  <a:pt x="659245" y="659244"/>
                </a:lnTo>
                <a:lnTo>
                  <a:pt x="0" y="6592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597706" y="1553204"/>
            <a:ext cx="5943600" cy="434473"/>
          </a:xfrm>
          <a:prstGeom prst="rect">
            <a:avLst/>
          </a:prstGeom>
        </p:spPr>
        <p:txBody>
          <a:bodyPr anchor="t" rtlCol="false" tIns="0" lIns="0" bIns="0" rIns="0">
            <a:spAutoFit/>
          </a:bodyPr>
          <a:lstStyle/>
          <a:p>
            <a:pPr algn="l">
              <a:lnSpc>
                <a:spcPts val="3231"/>
              </a:lnSpc>
            </a:pPr>
            <a:r>
              <a:rPr lang="en-US" sz="2991" b="true">
                <a:solidFill>
                  <a:srgbClr val="FFFFFF"/>
                </a:solidFill>
                <a:latin typeface="Poppins Bold"/>
                <a:ea typeface="Poppins Bold"/>
                <a:cs typeface="Poppins Bold"/>
                <a:sym typeface="Poppins Bold"/>
              </a:rPr>
              <a:t>ETS Machine Learning</a:t>
            </a:r>
          </a:p>
        </p:txBody>
      </p:sp>
      <p:grpSp>
        <p:nvGrpSpPr>
          <p:cNvPr name="Group 6" id="6"/>
          <p:cNvGrpSpPr/>
          <p:nvPr/>
        </p:nvGrpSpPr>
        <p:grpSpPr>
          <a:xfrm rot="0">
            <a:off x="1371600" y="2423160"/>
            <a:ext cx="15544800" cy="7178040"/>
            <a:chOff x="0" y="0"/>
            <a:chExt cx="20726400" cy="9570720"/>
          </a:xfrm>
        </p:grpSpPr>
        <p:sp>
          <p:nvSpPr>
            <p:cNvPr name="Freeform 7" id="7"/>
            <p:cNvSpPr/>
            <p:nvPr/>
          </p:nvSpPr>
          <p:spPr>
            <a:xfrm flipH="false" flipV="false" rot="0">
              <a:off x="0" y="0"/>
              <a:ext cx="20726400" cy="9570720"/>
            </a:xfrm>
            <a:custGeom>
              <a:avLst/>
              <a:gdLst/>
              <a:ahLst/>
              <a:cxnLst/>
              <a:rect r="r" b="b" t="t" l="l"/>
              <a:pathLst>
                <a:path h="9570720" w="20726400">
                  <a:moveTo>
                    <a:pt x="440817" y="0"/>
                  </a:moveTo>
                  <a:lnTo>
                    <a:pt x="20285583" y="0"/>
                  </a:lnTo>
                  <a:cubicBezTo>
                    <a:pt x="20402550" y="0"/>
                    <a:pt x="20514692" y="23241"/>
                    <a:pt x="20597369" y="64516"/>
                  </a:cubicBezTo>
                  <a:cubicBezTo>
                    <a:pt x="20680046" y="105791"/>
                    <a:pt x="20726400" y="161925"/>
                    <a:pt x="20726400" y="220345"/>
                  </a:cubicBezTo>
                  <a:lnTo>
                    <a:pt x="20726400" y="9350375"/>
                  </a:lnTo>
                  <a:cubicBezTo>
                    <a:pt x="20726400" y="9472041"/>
                    <a:pt x="20529042" y="9570720"/>
                    <a:pt x="20285583" y="9570720"/>
                  </a:cubicBezTo>
                  <a:lnTo>
                    <a:pt x="440817" y="9570720"/>
                  </a:lnTo>
                  <a:cubicBezTo>
                    <a:pt x="323850" y="9570720"/>
                    <a:pt x="211709" y="9547479"/>
                    <a:pt x="129159" y="9506204"/>
                  </a:cubicBezTo>
                  <a:cubicBezTo>
                    <a:pt x="46609" y="9464929"/>
                    <a:pt x="0" y="9408795"/>
                    <a:pt x="0" y="9350375"/>
                  </a:cubicBezTo>
                  <a:lnTo>
                    <a:pt x="0" y="220345"/>
                  </a:lnTo>
                  <a:cubicBezTo>
                    <a:pt x="0" y="98679"/>
                    <a:pt x="197358" y="0"/>
                    <a:pt x="440817" y="0"/>
                  </a:cubicBezTo>
                  <a:close/>
                </a:path>
              </a:pathLst>
            </a:custGeom>
            <a:solidFill>
              <a:srgbClr val="FFFFFF"/>
            </a:solidFill>
          </p:spPr>
        </p:sp>
      </p:grpSp>
      <p:sp>
        <p:nvSpPr>
          <p:cNvPr name="TextBox 8" id="8"/>
          <p:cNvSpPr txBox="true"/>
          <p:nvPr/>
        </p:nvSpPr>
        <p:spPr>
          <a:xfrm rot="0">
            <a:off x="10515600" y="1506093"/>
            <a:ext cx="5760720" cy="478155"/>
          </a:xfrm>
          <a:prstGeom prst="rect">
            <a:avLst/>
          </a:prstGeom>
        </p:spPr>
        <p:txBody>
          <a:bodyPr anchor="t" rtlCol="false" tIns="0" lIns="0" bIns="0" rIns="0">
            <a:spAutoFit/>
          </a:bodyPr>
          <a:lstStyle/>
          <a:p>
            <a:pPr algn="l">
              <a:lnSpc>
                <a:spcPts val="2832"/>
              </a:lnSpc>
            </a:pPr>
            <a:r>
              <a:rPr lang="en-US" sz="2000" b="true">
                <a:solidFill>
                  <a:srgbClr val="FFFFFF"/>
                </a:solidFill>
                <a:latin typeface="Poppins Bold"/>
                <a:ea typeface="Poppins Bold"/>
                <a:cs typeface="Poppins Bold"/>
                <a:sym typeface="Poppins Bold"/>
              </a:rPr>
              <a:t>01 PENDAHULUAN</a:t>
            </a:r>
          </a:p>
        </p:txBody>
      </p:sp>
      <p:sp>
        <p:nvSpPr>
          <p:cNvPr name="TextBox 9" id="9"/>
          <p:cNvSpPr txBox="true"/>
          <p:nvPr/>
        </p:nvSpPr>
        <p:spPr>
          <a:xfrm rot="0">
            <a:off x="1874520" y="2637282"/>
            <a:ext cx="14538960" cy="1002030"/>
          </a:xfrm>
          <a:prstGeom prst="rect">
            <a:avLst/>
          </a:prstGeom>
        </p:spPr>
        <p:txBody>
          <a:bodyPr anchor="t" rtlCol="false" tIns="0" lIns="0" bIns="0" rIns="0">
            <a:spAutoFit/>
          </a:bodyPr>
          <a:lstStyle/>
          <a:p>
            <a:pPr algn="l">
              <a:lnSpc>
                <a:spcPts val="6513"/>
              </a:lnSpc>
            </a:pPr>
            <a:r>
              <a:rPr lang="en-US" sz="4599" b="true">
                <a:solidFill>
                  <a:srgbClr val="572525"/>
                </a:solidFill>
                <a:latin typeface="Poppins Bold"/>
                <a:ea typeface="Poppins Bold"/>
                <a:cs typeface="Poppins Bold"/>
                <a:sym typeface="Poppins Bold"/>
              </a:rPr>
              <a:t>1. Pendahuluan dan tujuan</a:t>
            </a:r>
          </a:p>
        </p:txBody>
      </p:sp>
      <p:sp>
        <p:nvSpPr>
          <p:cNvPr name="TextBox 10" id="10"/>
          <p:cNvSpPr txBox="true"/>
          <p:nvPr/>
        </p:nvSpPr>
        <p:spPr>
          <a:xfrm rot="0">
            <a:off x="1901952" y="9078087"/>
            <a:ext cx="14447520" cy="303657"/>
          </a:xfrm>
          <a:prstGeom prst="rect">
            <a:avLst/>
          </a:prstGeom>
        </p:spPr>
        <p:txBody>
          <a:bodyPr anchor="t" rtlCol="false" tIns="0" lIns="0" bIns="0" rIns="0">
            <a:spAutoFit/>
          </a:bodyPr>
          <a:lstStyle/>
          <a:p>
            <a:pPr algn="l">
              <a:lnSpc>
                <a:spcPts val="1982"/>
              </a:lnSpc>
            </a:pPr>
            <a:r>
              <a:rPr lang="en-US" sz="1400" b="true">
                <a:solidFill>
                  <a:srgbClr val="572525"/>
                </a:solidFill>
                <a:latin typeface="Poppins Semi-Bold"/>
                <a:ea typeface="Poppins Semi-Bold"/>
                <a:cs typeface="Poppins Semi-Bold"/>
                <a:sym typeface="Poppins Semi-Bold"/>
              </a:rPr>
              <a:t>01 Pendahuluan     02</a:t>
            </a:r>
          </a:p>
        </p:txBody>
      </p:sp>
      <p:sp>
        <p:nvSpPr>
          <p:cNvPr name="TextBox 11" id="11"/>
          <p:cNvSpPr txBox="true"/>
          <p:nvPr/>
        </p:nvSpPr>
        <p:spPr>
          <a:xfrm rot="0">
            <a:off x="1901952" y="3895803"/>
            <a:ext cx="14447520" cy="4897218"/>
          </a:xfrm>
          <a:prstGeom prst="rect">
            <a:avLst/>
          </a:prstGeom>
        </p:spPr>
        <p:txBody>
          <a:bodyPr anchor="t" rtlCol="false" tIns="0" lIns="0" bIns="0" rIns="0">
            <a:spAutoFit/>
          </a:bodyPr>
          <a:lstStyle/>
          <a:p>
            <a:pPr algn="just" marL="542568" indent="-271284" lvl="1">
              <a:lnSpc>
                <a:spcPts val="3558"/>
              </a:lnSpc>
              <a:buFont typeface="Arial"/>
              <a:buChar char="•"/>
            </a:pPr>
            <a:r>
              <a:rPr lang="en-US" b="true" sz="2513">
                <a:solidFill>
                  <a:srgbClr val="572525"/>
                </a:solidFill>
                <a:latin typeface="Poppins Semi-Bold"/>
                <a:ea typeface="Poppins Semi-Bold"/>
                <a:cs typeface="Poppins Semi-Bold"/>
                <a:sym typeface="Poppins Semi-Bold"/>
              </a:rPr>
              <a:t>Glaukoma merusak saraf optik dan dapat menyebabkan gangguan penglihatan. Pengukuran ketebalan retinal nerve fiber layer (RNFL) menggunakan OCT membantu menilai perubahan struktur retina yang berkaitan dengan kerusakan tersebut.</a:t>
            </a:r>
          </a:p>
          <a:p>
            <a:pPr algn="just" marL="542568" indent="-271284" lvl="1">
              <a:lnSpc>
                <a:spcPts val="3558"/>
              </a:lnSpc>
              <a:buFont typeface="Arial"/>
              <a:buChar char="•"/>
            </a:pPr>
            <a:r>
              <a:rPr lang="en-US" b="true" sz="2513">
                <a:solidFill>
                  <a:srgbClr val="572525"/>
                </a:solidFill>
                <a:latin typeface="Poppins Semi-Bold"/>
                <a:ea typeface="Poppins Semi-Bold"/>
                <a:cs typeface="Poppins Semi-Bold"/>
                <a:sym typeface="Poppins Semi-Bold"/>
              </a:rPr>
              <a:t>Foto fundus retina berpotensi digunakan untuk mengestimasi ketebalan RNFL. Penelitian ini memanfaatkan fitur RETFound untuk memprediksi ketebalan RNFL pada 12 sektor jam dalam satuan mikrometer (µm).</a:t>
            </a:r>
          </a:p>
          <a:p>
            <a:pPr algn="just" marL="542568" indent="-271284" lvl="1">
              <a:lnSpc>
                <a:spcPts val="3558"/>
              </a:lnSpc>
              <a:buFont typeface="Arial"/>
              <a:buChar char="•"/>
            </a:pPr>
            <a:r>
              <a:rPr lang="en-US" b="true" sz="2513">
                <a:solidFill>
                  <a:srgbClr val="572525"/>
                </a:solidFill>
                <a:latin typeface="Poppins Semi-Bold"/>
                <a:ea typeface="Poppins Semi-Bold"/>
                <a:cs typeface="Poppins Semi-Bold"/>
                <a:sym typeface="Poppins Semi-Bold"/>
              </a:rPr>
              <a:t>Tujuan penelitian ini adalah membandingkan kinerja beberapa regresor serta mengevaluasi galat dan ketidakpastian prediksi. Selain itu, penelitian ini menguji pendekatan ensemble dan strategi pelabelan berbasis UCB1 untuk menilai pengaruhnya terhadap kinerja model.</a:t>
            </a:r>
          </a:p>
          <a:p>
            <a:pPr algn="l">
              <a:lnSpc>
                <a:spcPts val="3558"/>
              </a:lnSpc>
            </a:pP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1713090" y="1431284"/>
            <a:ext cx="659244" cy="659244"/>
          </a:xfrm>
          <a:custGeom>
            <a:avLst/>
            <a:gdLst/>
            <a:ahLst/>
            <a:cxnLst/>
            <a:rect r="r" b="b" t="t" l="l"/>
            <a:pathLst>
              <a:path h="659244" w="659244">
                <a:moveTo>
                  <a:pt x="0" y="0"/>
                </a:moveTo>
                <a:lnTo>
                  <a:pt x="659245" y="0"/>
                </a:lnTo>
                <a:lnTo>
                  <a:pt x="659245" y="659244"/>
                </a:lnTo>
                <a:lnTo>
                  <a:pt x="0" y="6592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371600" y="2423160"/>
            <a:ext cx="15544800" cy="7178040"/>
            <a:chOff x="0" y="0"/>
            <a:chExt cx="20726400" cy="9570720"/>
          </a:xfrm>
        </p:grpSpPr>
        <p:sp>
          <p:nvSpPr>
            <p:cNvPr name="Freeform 6" id="6"/>
            <p:cNvSpPr/>
            <p:nvPr/>
          </p:nvSpPr>
          <p:spPr>
            <a:xfrm flipH="false" flipV="false" rot="0">
              <a:off x="0" y="0"/>
              <a:ext cx="20726400" cy="9570720"/>
            </a:xfrm>
            <a:custGeom>
              <a:avLst/>
              <a:gdLst/>
              <a:ahLst/>
              <a:cxnLst/>
              <a:rect r="r" b="b" t="t" l="l"/>
              <a:pathLst>
                <a:path h="9570720" w="20726400">
                  <a:moveTo>
                    <a:pt x="440817" y="0"/>
                  </a:moveTo>
                  <a:lnTo>
                    <a:pt x="20285583" y="0"/>
                  </a:lnTo>
                  <a:cubicBezTo>
                    <a:pt x="20402550" y="0"/>
                    <a:pt x="20514692" y="23241"/>
                    <a:pt x="20597369" y="64516"/>
                  </a:cubicBezTo>
                  <a:cubicBezTo>
                    <a:pt x="20680046" y="105791"/>
                    <a:pt x="20726400" y="161925"/>
                    <a:pt x="20726400" y="220345"/>
                  </a:cubicBezTo>
                  <a:lnTo>
                    <a:pt x="20726400" y="9350375"/>
                  </a:lnTo>
                  <a:cubicBezTo>
                    <a:pt x="20726400" y="9472041"/>
                    <a:pt x="20529042" y="9570720"/>
                    <a:pt x="20285583" y="9570720"/>
                  </a:cubicBezTo>
                  <a:lnTo>
                    <a:pt x="440817" y="9570720"/>
                  </a:lnTo>
                  <a:cubicBezTo>
                    <a:pt x="323850" y="9570720"/>
                    <a:pt x="211709" y="9547479"/>
                    <a:pt x="129159" y="9506204"/>
                  </a:cubicBezTo>
                  <a:cubicBezTo>
                    <a:pt x="46609" y="9464929"/>
                    <a:pt x="0" y="9408795"/>
                    <a:pt x="0" y="9350375"/>
                  </a:cubicBezTo>
                  <a:lnTo>
                    <a:pt x="0" y="220345"/>
                  </a:lnTo>
                  <a:cubicBezTo>
                    <a:pt x="0" y="98679"/>
                    <a:pt x="197358" y="0"/>
                    <a:pt x="440817" y="0"/>
                  </a:cubicBezTo>
                  <a:close/>
                </a:path>
              </a:pathLst>
            </a:custGeom>
            <a:solidFill>
              <a:srgbClr val="FFFFFF"/>
            </a:solidFill>
          </p:spPr>
        </p:sp>
      </p:grpSp>
      <p:sp>
        <p:nvSpPr>
          <p:cNvPr name="Freeform 7" id="7"/>
          <p:cNvSpPr/>
          <p:nvPr/>
        </p:nvSpPr>
        <p:spPr>
          <a:xfrm flipH="false" flipV="false" rot="0">
            <a:off x="3857320" y="4142771"/>
            <a:ext cx="10007549" cy="4303765"/>
          </a:xfrm>
          <a:custGeom>
            <a:avLst/>
            <a:gdLst/>
            <a:ahLst/>
            <a:cxnLst/>
            <a:rect r="r" b="b" t="t" l="l"/>
            <a:pathLst>
              <a:path h="4303765" w="10007549">
                <a:moveTo>
                  <a:pt x="0" y="0"/>
                </a:moveTo>
                <a:lnTo>
                  <a:pt x="10007549" y="0"/>
                </a:lnTo>
                <a:lnTo>
                  <a:pt x="10007549" y="4303765"/>
                </a:lnTo>
                <a:lnTo>
                  <a:pt x="0" y="4303765"/>
                </a:lnTo>
                <a:lnTo>
                  <a:pt x="0" y="0"/>
                </a:lnTo>
                <a:close/>
              </a:path>
            </a:pathLst>
          </a:custGeom>
          <a:blipFill>
            <a:blip r:embed="rId6"/>
            <a:stretch>
              <a:fillRect l="0" t="0" r="0" b="0"/>
            </a:stretch>
          </a:blipFill>
        </p:spPr>
      </p:sp>
      <p:sp>
        <p:nvSpPr>
          <p:cNvPr name="TextBox 8" id="8"/>
          <p:cNvSpPr txBox="true"/>
          <p:nvPr/>
        </p:nvSpPr>
        <p:spPr>
          <a:xfrm rot="0">
            <a:off x="2597706" y="1553204"/>
            <a:ext cx="5943600" cy="434473"/>
          </a:xfrm>
          <a:prstGeom prst="rect">
            <a:avLst/>
          </a:prstGeom>
        </p:spPr>
        <p:txBody>
          <a:bodyPr anchor="t" rtlCol="false" tIns="0" lIns="0" bIns="0" rIns="0">
            <a:spAutoFit/>
          </a:bodyPr>
          <a:lstStyle/>
          <a:p>
            <a:pPr algn="l">
              <a:lnSpc>
                <a:spcPts val="3231"/>
              </a:lnSpc>
            </a:pPr>
            <a:r>
              <a:rPr lang="en-US" sz="2991" b="true">
                <a:solidFill>
                  <a:srgbClr val="FFFFFF"/>
                </a:solidFill>
                <a:latin typeface="Poppins Bold"/>
                <a:ea typeface="Poppins Bold"/>
                <a:cs typeface="Poppins Bold"/>
                <a:sym typeface="Poppins Bold"/>
              </a:rPr>
              <a:t>ETS Machine Learning</a:t>
            </a:r>
          </a:p>
        </p:txBody>
      </p:sp>
      <p:sp>
        <p:nvSpPr>
          <p:cNvPr name="TextBox 9" id="9"/>
          <p:cNvSpPr txBox="true"/>
          <p:nvPr/>
        </p:nvSpPr>
        <p:spPr>
          <a:xfrm rot="0">
            <a:off x="10515600" y="1506093"/>
            <a:ext cx="5760720" cy="478155"/>
          </a:xfrm>
          <a:prstGeom prst="rect">
            <a:avLst/>
          </a:prstGeom>
        </p:spPr>
        <p:txBody>
          <a:bodyPr anchor="t" rtlCol="false" tIns="0" lIns="0" bIns="0" rIns="0">
            <a:spAutoFit/>
          </a:bodyPr>
          <a:lstStyle/>
          <a:p>
            <a:pPr algn="l">
              <a:lnSpc>
                <a:spcPts val="2832"/>
              </a:lnSpc>
            </a:pPr>
            <a:r>
              <a:rPr lang="en-US" sz="2000" b="true">
                <a:solidFill>
                  <a:srgbClr val="FFFFFF"/>
                </a:solidFill>
                <a:latin typeface="Poppins Bold"/>
                <a:ea typeface="Poppins Bold"/>
                <a:cs typeface="Poppins Bold"/>
                <a:sym typeface="Poppins Bold"/>
              </a:rPr>
              <a:t>02 METODE</a:t>
            </a:r>
          </a:p>
        </p:txBody>
      </p:sp>
      <p:sp>
        <p:nvSpPr>
          <p:cNvPr name="TextBox 10" id="10"/>
          <p:cNvSpPr txBox="true"/>
          <p:nvPr/>
        </p:nvSpPr>
        <p:spPr>
          <a:xfrm rot="0">
            <a:off x="1874520" y="2637282"/>
            <a:ext cx="14538960" cy="826313"/>
          </a:xfrm>
          <a:prstGeom prst="rect">
            <a:avLst/>
          </a:prstGeom>
        </p:spPr>
        <p:txBody>
          <a:bodyPr anchor="t" rtlCol="false" tIns="0" lIns="0" bIns="0" rIns="0">
            <a:spAutoFit/>
          </a:bodyPr>
          <a:lstStyle/>
          <a:p>
            <a:pPr algn="l">
              <a:lnSpc>
                <a:spcPts val="6513"/>
              </a:lnSpc>
            </a:pPr>
            <a:r>
              <a:rPr lang="en-US" sz="4599" b="true">
                <a:solidFill>
                  <a:srgbClr val="572525"/>
                </a:solidFill>
                <a:latin typeface="Poppins Bold"/>
                <a:ea typeface="Poppins Bold"/>
                <a:cs typeface="Poppins Bold"/>
                <a:sym typeface="Poppins Bold"/>
              </a:rPr>
              <a:t>2. Metode dan alur kerja</a:t>
            </a:r>
          </a:p>
        </p:txBody>
      </p:sp>
      <p:sp>
        <p:nvSpPr>
          <p:cNvPr name="TextBox 11" id="11"/>
          <p:cNvSpPr txBox="true"/>
          <p:nvPr/>
        </p:nvSpPr>
        <p:spPr>
          <a:xfrm rot="0">
            <a:off x="1901952" y="9078087"/>
            <a:ext cx="14447520" cy="303657"/>
          </a:xfrm>
          <a:prstGeom prst="rect">
            <a:avLst/>
          </a:prstGeom>
        </p:spPr>
        <p:txBody>
          <a:bodyPr anchor="t" rtlCol="false" tIns="0" lIns="0" bIns="0" rIns="0">
            <a:spAutoFit/>
          </a:bodyPr>
          <a:lstStyle/>
          <a:p>
            <a:pPr algn="l">
              <a:lnSpc>
                <a:spcPts val="1982"/>
              </a:lnSpc>
            </a:pPr>
            <a:r>
              <a:rPr lang="en-US" sz="1400" b="true">
                <a:solidFill>
                  <a:srgbClr val="572525"/>
                </a:solidFill>
                <a:latin typeface="Poppins Semi-Bold"/>
                <a:ea typeface="Poppins Semi-Bold"/>
                <a:cs typeface="Poppins Semi-Bold"/>
                <a:sym typeface="Poppins Semi-Bold"/>
              </a:rPr>
              <a:t>02 Metode     03</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1713090" y="1431284"/>
            <a:ext cx="659244" cy="659244"/>
          </a:xfrm>
          <a:custGeom>
            <a:avLst/>
            <a:gdLst/>
            <a:ahLst/>
            <a:cxnLst/>
            <a:rect r="r" b="b" t="t" l="l"/>
            <a:pathLst>
              <a:path h="659244" w="659244">
                <a:moveTo>
                  <a:pt x="0" y="0"/>
                </a:moveTo>
                <a:lnTo>
                  <a:pt x="659245" y="0"/>
                </a:lnTo>
                <a:lnTo>
                  <a:pt x="659245" y="659244"/>
                </a:lnTo>
                <a:lnTo>
                  <a:pt x="0" y="6592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042712" y="2505337"/>
            <a:ext cx="13784743" cy="5949205"/>
          </a:xfrm>
          <a:custGeom>
            <a:avLst/>
            <a:gdLst/>
            <a:ahLst/>
            <a:cxnLst/>
            <a:rect r="r" b="b" t="t" l="l"/>
            <a:pathLst>
              <a:path h="5949205" w="13784743">
                <a:moveTo>
                  <a:pt x="0" y="0"/>
                </a:moveTo>
                <a:lnTo>
                  <a:pt x="13784743" y="0"/>
                </a:lnTo>
                <a:lnTo>
                  <a:pt x="13784743" y="5949205"/>
                </a:lnTo>
                <a:lnTo>
                  <a:pt x="0" y="5949205"/>
                </a:lnTo>
                <a:lnTo>
                  <a:pt x="0" y="0"/>
                </a:lnTo>
                <a:close/>
              </a:path>
            </a:pathLst>
          </a:custGeom>
          <a:blipFill>
            <a:blip r:embed="rId6"/>
            <a:stretch>
              <a:fillRect l="0" t="0" r="0" b="0"/>
            </a:stretch>
          </a:blipFill>
        </p:spPr>
      </p:sp>
      <p:sp>
        <p:nvSpPr>
          <p:cNvPr name="TextBox 6" id="6"/>
          <p:cNvSpPr txBox="true"/>
          <p:nvPr/>
        </p:nvSpPr>
        <p:spPr>
          <a:xfrm rot="0">
            <a:off x="2597706" y="1553204"/>
            <a:ext cx="5943600" cy="434473"/>
          </a:xfrm>
          <a:prstGeom prst="rect">
            <a:avLst/>
          </a:prstGeom>
        </p:spPr>
        <p:txBody>
          <a:bodyPr anchor="t" rtlCol="false" tIns="0" lIns="0" bIns="0" rIns="0">
            <a:spAutoFit/>
          </a:bodyPr>
          <a:lstStyle/>
          <a:p>
            <a:pPr algn="l">
              <a:lnSpc>
                <a:spcPts val="3231"/>
              </a:lnSpc>
            </a:pPr>
            <a:r>
              <a:rPr lang="en-US" sz="2991" b="true">
                <a:solidFill>
                  <a:srgbClr val="FFFFFF"/>
                </a:solidFill>
                <a:latin typeface="Poppins Bold"/>
                <a:ea typeface="Poppins Bold"/>
                <a:cs typeface="Poppins Bold"/>
                <a:sym typeface="Poppins Bold"/>
              </a:rPr>
              <a:t>ETS Machine Learning</a:t>
            </a:r>
          </a:p>
        </p:txBody>
      </p:sp>
      <p:sp>
        <p:nvSpPr>
          <p:cNvPr name="TextBox 7" id="7"/>
          <p:cNvSpPr txBox="true"/>
          <p:nvPr/>
        </p:nvSpPr>
        <p:spPr>
          <a:xfrm rot="0">
            <a:off x="10515600" y="1506093"/>
            <a:ext cx="5760720" cy="478155"/>
          </a:xfrm>
          <a:prstGeom prst="rect">
            <a:avLst/>
          </a:prstGeom>
        </p:spPr>
        <p:txBody>
          <a:bodyPr anchor="t" rtlCol="false" tIns="0" lIns="0" bIns="0" rIns="0">
            <a:spAutoFit/>
          </a:bodyPr>
          <a:lstStyle/>
          <a:p>
            <a:pPr algn="l">
              <a:lnSpc>
                <a:spcPts val="2832"/>
              </a:lnSpc>
            </a:pPr>
            <a:r>
              <a:rPr lang="en-US" sz="2000" b="true">
                <a:solidFill>
                  <a:srgbClr val="FFFFFF"/>
                </a:solidFill>
                <a:latin typeface="Poppins Bold"/>
                <a:ea typeface="Poppins Bold"/>
                <a:cs typeface="Poppins Bold"/>
                <a:sym typeface="Poppins Bold"/>
              </a:rPr>
              <a:t>02 METODE</a:t>
            </a:r>
          </a:p>
        </p:txBody>
      </p:sp>
      <p:sp>
        <p:nvSpPr>
          <p:cNvPr name="TextBox 8" id="8"/>
          <p:cNvSpPr txBox="true"/>
          <p:nvPr/>
        </p:nvSpPr>
        <p:spPr>
          <a:xfrm rot="0">
            <a:off x="3407486" y="8379714"/>
            <a:ext cx="14538960" cy="1002030"/>
          </a:xfrm>
          <a:prstGeom prst="rect">
            <a:avLst/>
          </a:prstGeom>
        </p:spPr>
        <p:txBody>
          <a:bodyPr anchor="t" rtlCol="false" tIns="0" lIns="0" bIns="0" rIns="0">
            <a:spAutoFit/>
          </a:bodyPr>
          <a:lstStyle/>
          <a:p>
            <a:pPr algn="l">
              <a:lnSpc>
                <a:spcPts val="6513"/>
              </a:lnSpc>
            </a:pPr>
            <a:r>
              <a:rPr lang="en-US" b="true" sz="4599">
                <a:solidFill>
                  <a:srgbClr val="FFFFFF"/>
                </a:solidFill>
                <a:latin typeface="Poppins Bold"/>
                <a:ea typeface="Poppins Bold"/>
                <a:cs typeface="Poppins Bold"/>
                <a:sym typeface="Poppins Bold"/>
              </a:rPr>
              <a:t>RETFound: alasan dan arsitektur</a:t>
            </a:r>
          </a:p>
        </p:txBody>
      </p:sp>
      <p:sp>
        <p:nvSpPr>
          <p:cNvPr name="TextBox 9" id="9"/>
          <p:cNvSpPr txBox="true"/>
          <p:nvPr/>
        </p:nvSpPr>
        <p:spPr>
          <a:xfrm rot="0">
            <a:off x="1901952" y="9078087"/>
            <a:ext cx="14447520" cy="303657"/>
          </a:xfrm>
          <a:prstGeom prst="rect">
            <a:avLst/>
          </a:prstGeom>
        </p:spPr>
        <p:txBody>
          <a:bodyPr anchor="t" rtlCol="false" tIns="0" lIns="0" bIns="0" rIns="0">
            <a:spAutoFit/>
          </a:bodyPr>
          <a:lstStyle/>
          <a:p>
            <a:pPr algn="l">
              <a:lnSpc>
                <a:spcPts val="1982"/>
              </a:lnSpc>
            </a:pPr>
            <a:r>
              <a:rPr lang="en-US" sz="1400" b="true">
                <a:solidFill>
                  <a:srgbClr val="572525"/>
                </a:solidFill>
                <a:latin typeface="Poppins Semi-Bold"/>
                <a:ea typeface="Poppins Semi-Bold"/>
                <a:cs typeface="Poppins Semi-Bold"/>
                <a:sym typeface="Poppins Semi-Bold"/>
              </a:rPr>
              <a:t>02 Metode     04</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1713090" y="1431284"/>
            <a:ext cx="659244" cy="659244"/>
          </a:xfrm>
          <a:custGeom>
            <a:avLst/>
            <a:gdLst/>
            <a:ahLst/>
            <a:cxnLst/>
            <a:rect r="r" b="b" t="t" l="l"/>
            <a:pathLst>
              <a:path h="659244" w="659244">
                <a:moveTo>
                  <a:pt x="0" y="0"/>
                </a:moveTo>
                <a:lnTo>
                  <a:pt x="659245" y="0"/>
                </a:lnTo>
                <a:lnTo>
                  <a:pt x="659245" y="659244"/>
                </a:lnTo>
                <a:lnTo>
                  <a:pt x="0" y="6592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597706" y="1553204"/>
            <a:ext cx="5943600" cy="434473"/>
          </a:xfrm>
          <a:prstGeom prst="rect">
            <a:avLst/>
          </a:prstGeom>
        </p:spPr>
        <p:txBody>
          <a:bodyPr anchor="t" rtlCol="false" tIns="0" lIns="0" bIns="0" rIns="0">
            <a:spAutoFit/>
          </a:bodyPr>
          <a:lstStyle/>
          <a:p>
            <a:pPr algn="l">
              <a:lnSpc>
                <a:spcPts val="3231"/>
              </a:lnSpc>
            </a:pPr>
            <a:r>
              <a:rPr lang="en-US" sz="2991" b="true">
                <a:solidFill>
                  <a:srgbClr val="FFFFFF"/>
                </a:solidFill>
                <a:latin typeface="Poppins Bold"/>
                <a:ea typeface="Poppins Bold"/>
                <a:cs typeface="Poppins Bold"/>
                <a:sym typeface="Poppins Bold"/>
              </a:rPr>
              <a:t>ETS Machine Learning</a:t>
            </a:r>
          </a:p>
        </p:txBody>
      </p:sp>
      <p:grpSp>
        <p:nvGrpSpPr>
          <p:cNvPr name="Group 6" id="6"/>
          <p:cNvGrpSpPr/>
          <p:nvPr/>
        </p:nvGrpSpPr>
        <p:grpSpPr>
          <a:xfrm rot="0">
            <a:off x="1371600" y="2423160"/>
            <a:ext cx="15544800" cy="7178040"/>
            <a:chOff x="0" y="0"/>
            <a:chExt cx="20726400" cy="9570720"/>
          </a:xfrm>
        </p:grpSpPr>
        <p:sp>
          <p:nvSpPr>
            <p:cNvPr name="Freeform 7" id="7"/>
            <p:cNvSpPr/>
            <p:nvPr/>
          </p:nvSpPr>
          <p:spPr>
            <a:xfrm flipH="false" flipV="false" rot="0">
              <a:off x="0" y="0"/>
              <a:ext cx="20726400" cy="9570720"/>
            </a:xfrm>
            <a:custGeom>
              <a:avLst/>
              <a:gdLst/>
              <a:ahLst/>
              <a:cxnLst/>
              <a:rect r="r" b="b" t="t" l="l"/>
              <a:pathLst>
                <a:path h="9570720" w="20726400">
                  <a:moveTo>
                    <a:pt x="440817" y="0"/>
                  </a:moveTo>
                  <a:lnTo>
                    <a:pt x="20285583" y="0"/>
                  </a:lnTo>
                  <a:cubicBezTo>
                    <a:pt x="20402550" y="0"/>
                    <a:pt x="20514692" y="23241"/>
                    <a:pt x="20597369" y="64516"/>
                  </a:cubicBezTo>
                  <a:cubicBezTo>
                    <a:pt x="20680046" y="105791"/>
                    <a:pt x="20726400" y="161925"/>
                    <a:pt x="20726400" y="220345"/>
                  </a:cubicBezTo>
                  <a:lnTo>
                    <a:pt x="20726400" y="9350375"/>
                  </a:lnTo>
                  <a:cubicBezTo>
                    <a:pt x="20726400" y="9472041"/>
                    <a:pt x="20529042" y="9570720"/>
                    <a:pt x="20285583" y="9570720"/>
                  </a:cubicBezTo>
                  <a:lnTo>
                    <a:pt x="440817" y="9570720"/>
                  </a:lnTo>
                  <a:cubicBezTo>
                    <a:pt x="323850" y="9570720"/>
                    <a:pt x="211709" y="9547479"/>
                    <a:pt x="129159" y="9506204"/>
                  </a:cubicBezTo>
                  <a:cubicBezTo>
                    <a:pt x="46609" y="9464929"/>
                    <a:pt x="0" y="9408795"/>
                    <a:pt x="0" y="9350375"/>
                  </a:cubicBezTo>
                  <a:lnTo>
                    <a:pt x="0" y="220345"/>
                  </a:lnTo>
                  <a:cubicBezTo>
                    <a:pt x="0" y="98679"/>
                    <a:pt x="197358" y="0"/>
                    <a:pt x="440817" y="0"/>
                  </a:cubicBezTo>
                  <a:close/>
                </a:path>
              </a:pathLst>
            </a:custGeom>
            <a:solidFill>
              <a:srgbClr val="FFFFFF"/>
            </a:solidFill>
          </p:spPr>
        </p:sp>
      </p:grpSp>
      <p:sp>
        <p:nvSpPr>
          <p:cNvPr name="TextBox 8" id="8"/>
          <p:cNvSpPr txBox="true"/>
          <p:nvPr/>
        </p:nvSpPr>
        <p:spPr>
          <a:xfrm rot="0">
            <a:off x="10515600" y="1506093"/>
            <a:ext cx="5760720" cy="478155"/>
          </a:xfrm>
          <a:prstGeom prst="rect">
            <a:avLst/>
          </a:prstGeom>
        </p:spPr>
        <p:txBody>
          <a:bodyPr anchor="t" rtlCol="false" tIns="0" lIns="0" bIns="0" rIns="0">
            <a:spAutoFit/>
          </a:bodyPr>
          <a:lstStyle/>
          <a:p>
            <a:pPr algn="l">
              <a:lnSpc>
                <a:spcPts val="2832"/>
              </a:lnSpc>
            </a:pPr>
            <a:r>
              <a:rPr lang="en-US" sz="2000" b="true">
                <a:solidFill>
                  <a:srgbClr val="FFFFFF"/>
                </a:solidFill>
                <a:latin typeface="Poppins Bold"/>
                <a:ea typeface="Poppins Bold"/>
                <a:cs typeface="Poppins Bold"/>
                <a:sym typeface="Poppins Bold"/>
              </a:rPr>
              <a:t>02 METODE</a:t>
            </a:r>
          </a:p>
        </p:txBody>
      </p:sp>
      <p:sp>
        <p:nvSpPr>
          <p:cNvPr name="TextBox 9" id="9"/>
          <p:cNvSpPr txBox="true"/>
          <p:nvPr/>
        </p:nvSpPr>
        <p:spPr>
          <a:xfrm rot="0">
            <a:off x="1874520" y="2637282"/>
            <a:ext cx="14538960" cy="1002030"/>
          </a:xfrm>
          <a:prstGeom prst="rect">
            <a:avLst/>
          </a:prstGeom>
        </p:spPr>
        <p:txBody>
          <a:bodyPr anchor="t" rtlCol="false" tIns="0" lIns="0" bIns="0" rIns="0">
            <a:spAutoFit/>
          </a:bodyPr>
          <a:lstStyle/>
          <a:p>
            <a:pPr algn="l">
              <a:lnSpc>
                <a:spcPts val="6513"/>
              </a:lnSpc>
            </a:pPr>
            <a:r>
              <a:rPr lang="en-US" sz="4599" b="true">
                <a:solidFill>
                  <a:srgbClr val="572525"/>
                </a:solidFill>
                <a:latin typeface="Poppins Bold"/>
                <a:ea typeface="Poppins Bold"/>
                <a:cs typeface="Poppins Bold"/>
                <a:sym typeface="Poppins Bold"/>
              </a:rPr>
              <a:t>Rancangan pelatihan dan evaluasi</a:t>
            </a:r>
          </a:p>
        </p:txBody>
      </p:sp>
      <p:sp>
        <p:nvSpPr>
          <p:cNvPr name="TextBox 10" id="10"/>
          <p:cNvSpPr txBox="true"/>
          <p:nvPr/>
        </p:nvSpPr>
        <p:spPr>
          <a:xfrm rot="0">
            <a:off x="1901952" y="9078087"/>
            <a:ext cx="14447520" cy="303657"/>
          </a:xfrm>
          <a:prstGeom prst="rect">
            <a:avLst/>
          </a:prstGeom>
        </p:spPr>
        <p:txBody>
          <a:bodyPr anchor="t" rtlCol="false" tIns="0" lIns="0" bIns="0" rIns="0">
            <a:spAutoFit/>
          </a:bodyPr>
          <a:lstStyle/>
          <a:p>
            <a:pPr algn="l">
              <a:lnSpc>
                <a:spcPts val="1982"/>
              </a:lnSpc>
            </a:pPr>
            <a:r>
              <a:rPr lang="en-US" sz="1400" b="true">
                <a:solidFill>
                  <a:srgbClr val="572525"/>
                </a:solidFill>
                <a:latin typeface="Poppins Semi-Bold"/>
                <a:ea typeface="Poppins Semi-Bold"/>
                <a:cs typeface="Poppins Semi-Bold"/>
                <a:sym typeface="Poppins Semi-Bold"/>
              </a:rPr>
              <a:t>02 Metode     05</a:t>
            </a:r>
          </a:p>
        </p:txBody>
      </p:sp>
      <p:sp>
        <p:nvSpPr>
          <p:cNvPr name="TextBox 11" id="11"/>
          <p:cNvSpPr txBox="true"/>
          <p:nvPr/>
        </p:nvSpPr>
        <p:spPr>
          <a:xfrm rot="0">
            <a:off x="2011680" y="3891915"/>
            <a:ext cx="13898880" cy="4840605"/>
          </a:xfrm>
          <a:prstGeom prst="rect">
            <a:avLst/>
          </a:prstGeom>
        </p:spPr>
        <p:txBody>
          <a:bodyPr anchor="t" rtlCol="false" tIns="0" lIns="0" bIns="0" rIns="0">
            <a:spAutoFit/>
          </a:bodyPr>
          <a:lstStyle/>
          <a:p>
            <a:pPr algn="l">
              <a:lnSpc>
                <a:spcPts val="3964"/>
              </a:lnSpc>
            </a:pPr>
            <a:r>
              <a:rPr lang="en-US" sz="2799" b="true">
                <a:solidFill>
                  <a:srgbClr val="572525"/>
                </a:solidFill>
                <a:latin typeface="Poppins Semi-Bold"/>
                <a:ea typeface="Poppins Semi-Bold"/>
                <a:cs typeface="Poppins Semi-Bold"/>
                <a:sym typeface="Poppins Semi-Bold"/>
              </a:rPr>
              <a:t>Data: 152 record dari 84 pasien setelah audit. Foto menjadi RGB 224 × 224, dengan normalisasi intensitas. Target OD mengalami refleksi sektor.</a:t>
            </a:r>
          </a:p>
          <a:p>
            <a:pPr algn="l">
              <a:lnSpc>
                <a:spcPts val="3964"/>
              </a:lnSpc>
            </a:pPr>
          </a:p>
          <a:p>
            <a:pPr algn="l">
              <a:lnSpc>
                <a:spcPts val="3964"/>
              </a:lnSpc>
            </a:pPr>
            <a:r>
              <a:rPr lang="en-US" sz="2799" b="true">
                <a:solidFill>
                  <a:srgbClr val="572525"/>
                </a:solidFill>
                <a:latin typeface="Poppins Semi-Bold"/>
                <a:ea typeface="Poppins Semi-Bold"/>
                <a:cs typeface="Poppins Semi-Bold"/>
                <a:sym typeface="Poppins Semi-Bold"/>
              </a:rPr>
              <a:t>Validasi: outer GroupKFold 5 fold, inner tuning 3 fold. Kedua mata pasien berada pada grup yang sama. StandardScaler belajar dari data latih.</a:t>
            </a:r>
          </a:p>
          <a:p>
            <a:pPr algn="l">
              <a:lnSpc>
                <a:spcPts val="3964"/>
              </a:lnSpc>
            </a:pPr>
          </a:p>
          <a:p>
            <a:pPr algn="l">
              <a:lnSpc>
                <a:spcPts val="3964"/>
              </a:lnSpc>
            </a:pPr>
            <a:r>
              <a:rPr lang="en-US" sz="2799" b="true">
                <a:solidFill>
                  <a:srgbClr val="572525"/>
                </a:solidFill>
                <a:latin typeface="Poppins Semi-Bold"/>
                <a:ea typeface="Poppins Semi-Bold"/>
                <a:cs typeface="Poppins Semi-Bold"/>
                <a:sym typeface="Poppins Semi-Bold"/>
              </a:rPr>
              <a:t>Model: OLS, Ridge, Lasso, dan ElasticNet. Evaluasi memakai prediksi OOF, MAE, RMSE, R², serta bootstrap pasien 1.000 kali. Eksperimen tambahan menguji ensemble, augmentasi fotometrik ±10%, dan UCB1.</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1713090" y="1431284"/>
            <a:ext cx="659244" cy="659244"/>
          </a:xfrm>
          <a:custGeom>
            <a:avLst/>
            <a:gdLst/>
            <a:ahLst/>
            <a:cxnLst/>
            <a:rect r="r" b="b" t="t" l="l"/>
            <a:pathLst>
              <a:path h="659244" w="659244">
                <a:moveTo>
                  <a:pt x="0" y="0"/>
                </a:moveTo>
                <a:lnTo>
                  <a:pt x="659245" y="0"/>
                </a:lnTo>
                <a:lnTo>
                  <a:pt x="659245" y="659244"/>
                </a:lnTo>
                <a:lnTo>
                  <a:pt x="0" y="6592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597706" y="1553204"/>
            <a:ext cx="5943600" cy="434473"/>
          </a:xfrm>
          <a:prstGeom prst="rect">
            <a:avLst/>
          </a:prstGeom>
        </p:spPr>
        <p:txBody>
          <a:bodyPr anchor="t" rtlCol="false" tIns="0" lIns="0" bIns="0" rIns="0">
            <a:spAutoFit/>
          </a:bodyPr>
          <a:lstStyle/>
          <a:p>
            <a:pPr algn="l">
              <a:lnSpc>
                <a:spcPts val="3231"/>
              </a:lnSpc>
            </a:pPr>
            <a:r>
              <a:rPr lang="en-US" sz="2991" b="true">
                <a:solidFill>
                  <a:srgbClr val="FFFFFF"/>
                </a:solidFill>
                <a:latin typeface="Poppins Bold"/>
                <a:ea typeface="Poppins Bold"/>
                <a:cs typeface="Poppins Bold"/>
                <a:sym typeface="Poppins Bold"/>
              </a:rPr>
              <a:t>ETS Machine Learning</a:t>
            </a:r>
          </a:p>
        </p:txBody>
      </p:sp>
      <p:grpSp>
        <p:nvGrpSpPr>
          <p:cNvPr name="Group 6" id="6"/>
          <p:cNvGrpSpPr/>
          <p:nvPr/>
        </p:nvGrpSpPr>
        <p:grpSpPr>
          <a:xfrm rot="0">
            <a:off x="1371600" y="2423160"/>
            <a:ext cx="15544800" cy="7178040"/>
            <a:chOff x="0" y="0"/>
            <a:chExt cx="20726400" cy="9570720"/>
          </a:xfrm>
        </p:grpSpPr>
        <p:sp>
          <p:nvSpPr>
            <p:cNvPr name="Freeform 7" id="7"/>
            <p:cNvSpPr/>
            <p:nvPr/>
          </p:nvSpPr>
          <p:spPr>
            <a:xfrm flipH="false" flipV="false" rot="0">
              <a:off x="0" y="0"/>
              <a:ext cx="20726400" cy="9570720"/>
            </a:xfrm>
            <a:custGeom>
              <a:avLst/>
              <a:gdLst/>
              <a:ahLst/>
              <a:cxnLst/>
              <a:rect r="r" b="b" t="t" l="l"/>
              <a:pathLst>
                <a:path h="9570720" w="20726400">
                  <a:moveTo>
                    <a:pt x="440817" y="0"/>
                  </a:moveTo>
                  <a:lnTo>
                    <a:pt x="20285583" y="0"/>
                  </a:lnTo>
                  <a:cubicBezTo>
                    <a:pt x="20402550" y="0"/>
                    <a:pt x="20514692" y="23241"/>
                    <a:pt x="20597369" y="64516"/>
                  </a:cubicBezTo>
                  <a:cubicBezTo>
                    <a:pt x="20680046" y="105791"/>
                    <a:pt x="20726400" y="161925"/>
                    <a:pt x="20726400" y="220345"/>
                  </a:cubicBezTo>
                  <a:lnTo>
                    <a:pt x="20726400" y="9350375"/>
                  </a:lnTo>
                  <a:cubicBezTo>
                    <a:pt x="20726400" y="9472041"/>
                    <a:pt x="20529042" y="9570720"/>
                    <a:pt x="20285583" y="9570720"/>
                  </a:cubicBezTo>
                  <a:lnTo>
                    <a:pt x="440817" y="9570720"/>
                  </a:lnTo>
                  <a:cubicBezTo>
                    <a:pt x="323850" y="9570720"/>
                    <a:pt x="211709" y="9547479"/>
                    <a:pt x="129159" y="9506204"/>
                  </a:cubicBezTo>
                  <a:cubicBezTo>
                    <a:pt x="46609" y="9464929"/>
                    <a:pt x="0" y="9408795"/>
                    <a:pt x="0" y="9350375"/>
                  </a:cubicBezTo>
                  <a:lnTo>
                    <a:pt x="0" y="220345"/>
                  </a:lnTo>
                  <a:cubicBezTo>
                    <a:pt x="0" y="98679"/>
                    <a:pt x="197358" y="0"/>
                    <a:pt x="440817" y="0"/>
                  </a:cubicBezTo>
                  <a:close/>
                </a:path>
              </a:pathLst>
            </a:custGeom>
            <a:solidFill>
              <a:srgbClr val="FFFFFF"/>
            </a:solidFill>
          </p:spPr>
        </p:sp>
      </p:grpSp>
      <p:sp>
        <p:nvSpPr>
          <p:cNvPr name="TextBox 8" id="8"/>
          <p:cNvSpPr txBox="true"/>
          <p:nvPr/>
        </p:nvSpPr>
        <p:spPr>
          <a:xfrm rot="0">
            <a:off x="10515600" y="1506093"/>
            <a:ext cx="5760720" cy="478155"/>
          </a:xfrm>
          <a:prstGeom prst="rect">
            <a:avLst/>
          </a:prstGeom>
        </p:spPr>
        <p:txBody>
          <a:bodyPr anchor="t" rtlCol="false" tIns="0" lIns="0" bIns="0" rIns="0">
            <a:spAutoFit/>
          </a:bodyPr>
          <a:lstStyle/>
          <a:p>
            <a:pPr algn="l">
              <a:lnSpc>
                <a:spcPts val="2832"/>
              </a:lnSpc>
            </a:pPr>
            <a:r>
              <a:rPr lang="en-US" sz="2000" b="true">
                <a:solidFill>
                  <a:srgbClr val="FFFFFF"/>
                </a:solidFill>
                <a:latin typeface="Poppins Bold"/>
                <a:ea typeface="Poppins Bold"/>
                <a:cs typeface="Poppins Bold"/>
                <a:sym typeface="Poppins Bold"/>
              </a:rPr>
              <a:t>03 HASIL</a:t>
            </a:r>
          </a:p>
        </p:txBody>
      </p:sp>
      <p:sp>
        <p:nvSpPr>
          <p:cNvPr name="TextBox 9" id="9"/>
          <p:cNvSpPr txBox="true"/>
          <p:nvPr/>
        </p:nvSpPr>
        <p:spPr>
          <a:xfrm rot="0">
            <a:off x="1874520" y="2637282"/>
            <a:ext cx="14538960" cy="1002030"/>
          </a:xfrm>
          <a:prstGeom prst="rect">
            <a:avLst/>
          </a:prstGeom>
        </p:spPr>
        <p:txBody>
          <a:bodyPr anchor="t" rtlCol="false" tIns="0" lIns="0" bIns="0" rIns="0">
            <a:spAutoFit/>
          </a:bodyPr>
          <a:lstStyle/>
          <a:p>
            <a:pPr algn="l">
              <a:lnSpc>
                <a:spcPts val="6513"/>
              </a:lnSpc>
            </a:pPr>
            <a:r>
              <a:rPr lang="en-US" sz="4599" b="true">
                <a:solidFill>
                  <a:srgbClr val="572525"/>
                </a:solidFill>
                <a:latin typeface="Poppins Bold"/>
                <a:ea typeface="Poppins Bold"/>
                <a:cs typeface="Poppins Bold"/>
                <a:sym typeface="Poppins Bold"/>
              </a:rPr>
              <a:t>3. Hasil eksplorasi dataset</a:t>
            </a:r>
          </a:p>
        </p:txBody>
      </p:sp>
      <p:sp>
        <p:nvSpPr>
          <p:cNvPr name="TextBox 10" id="10"/>
          <p:cNvSpPr txBox="true"/>
          <p:nvPr/>
        </p:nvSpPr>
        <p:spPr>
          <a:xfrm rot="0">
            <a:off x="1901952" y="9078087"/>
            <a:ext cx="14447520" cy="303657"/>
          </a:xfrm>
          <a:prstGeom prst="rect">
            <a:avLst/>
          </a:prstGeom>
        </p:spPr>
        <p:txBody>
          <a:bodyPr anchor="t" rtlCol="false" tIns="0" lIns="0" bIns="0" rIns="0">
            <a:spAutoFit/>
          </a:bodyPr>
          <a:lstStyle/>
          <a:p>
            <a:pPr algn="l">
              <a:lnSpc>
                <a:spcPts val="1982"/>
              </a:lnSpc>
            </a:pPr>
            <a:r>
              <a:rPr lang="en-US" sz="1400" b="true">
                <a:solidFill>
                  <a:srgbClr val="572525"/>
                </a:solidFill>
                <a:latin typeface="Poppins Semi-Bold"/>
                <a:ea typeface="Poppins Semi-Bold"/>
                <a:cs typeface="Poppins Semi-Bold"/>
                <a:sym typeface="Poppins Semi-Bold"/>
              </a:rPr>
              <a:t>03 Hasil     06</a:t>
            </a:r>
          </a:p>
        </p:txBody>
      </p:sp>
      <p:sp>
        <p:nvSpPr>
          <p:cNvPr name="TextBox 11" id="11"/>
          <p:cNvSpPr txBox="true"/>
          <p:nvPr/>
        </p:nvSpPr>
        <p:spPr>
          <a:xfrm rot="0">
            <a:off x="2011680" y="3728085"/>
            <a:ext cx="14081760" cy="615315"/>
          </a:xfrm>
          <a:prstGeom prst="rect">
            <a:avLst/>
          </a:prstGeom>
        </p:spPr>
        <p:txBody>
          <a:bodyPr anchor="t" rtlCol="false" tIns="0" lIns="0" bIns="0" rIns="0">
            <a:spAutoFit/>
          </a:bodyPr>
          <a:lstStyle/>
          <a:p>
            <a:pPr algn="l">
              <a:lnSpc>
                <a:spcPts val="3115"/>
              </a:lnSpc>
            </a:pPr>
            <a:r>
              <a:rPr lang="en-US" sz="2199" b="true">
                <a:solidFill>
                  <a:srgbClr val="572525"/>
                </a:solidFill>
                <a:latin typeface="Poppins Bold"/>
                <a:ea typeface="Poppins Bold"/>
                <a:cs typeface="Poppins Bold"/>
                <a:sym typeface="Poppins Bold"/>
              </a:rPr>
              <a:t>A. Hitung diagnosis, OD/OS, dan label kosong</a:t>
            </a:r>
          </a:p>
        </p:txBody>
      </p:sp>
      <p:grpSp>
        <p:nvGrpSpPr>
          <p:cNvPr name="Group 12" id="12"/>
          <p:cNvGrpSpPr/>
          <p:nvPr/>
        </p:nvGrpSpPr>
        <p:grpSpPr>
          <a:xfrm rot="0">
            <a:off x="2446020" y="4297680"/>
            <a:ext cx="7543800" cy="1828800"/>
            <a:chOff x="0" y="0"/>
            <a:chExt cx="10058400" cy="2438400"/>
          </a:xfrm>
        </p:grpSpPr>
        <p:sp>
          <p:nvSpPr>
            <p:cNvPr name="Freeform 13" id="13" descr="Output notebook asli"/>
            <p:cNvSpPr/>
            <p:nvPr/>
          </p:nvSpPr>
          <p:spPr>
            <a:xfrm flipH="false" flipV="false" rot="0">
              <a:off x="0" y="0"/>
              <a:ext cx="10058400" cy="2438400"/>
            </a:xfrm>
            <a:custGeom>
              <a:avLst/>
              <a:gdLst/>
              <a:ahLst/>
              <a:cxnLst/>
              <a:rect r="r" b="b" t="t" l="l"/>
              <a:pathLst>
                <a:path h="2438400" w="10058400">
                  <a:moveTo>
                    <a:pt x="0" y="0"/>
                  </a:moveTo>
                  <a:lnTo>
                    <a:pt x="10058400" y="0"/>
                  </a:lnTo>
                  <a:lnTo>
                    <a:pt x="10058400" y="2438400"/>
                  </a:lnTo>
                  <a:lnTo>
                    <a:pt x="0" y="2438400"/>
                  </a:lnTo>
                  <a:lnTo>
                    <a:pt x="0" y="0"/>
                  </a:lnTo>
                  <a:close/>
                </a:path>
              </a:pathLst>
            </a:custGeom>
            <a:blipFill>
              <a:blip r:embed="rId6"/>
              <a:stretch>
                <a:fillRect l="0" t="0" r="0" b="0"/>
              </a:stretch>
            </a:blipFill>
          </p:spPr>
        </p:sp>
      </p:grpSp>
      <p:sp>
        <p:nvSpPr>
          <p:cNvPr name="TextBox 14" id="14"/>
          <p:cNvSpPr txBox="true"/>
          <p:nvPr/>
        </p:nvSpPr>
        <p:spPr>
          <a:xfrm rot="0">
            <a:off x="10881360" y="4368165"/>
            <a:ext cx="5120640" cy="1804035"/>
          </a:xfrm>
          <a:prstGeom prst="rect">
            <a:avLst/>
          </a:prstGeom>
        </p:spPr>
        <p:txBody>
          <a:bodyPr anchor="t" rtlCol="false" tIns="0" lIns="0" bIns="0" rIns="0">
            <a:spAutoFit/>
          </a:bodyPr>
          <a:lstStyle/>
          <a:p>
            <a:pPr algn="l">
              <a:lnSpc>
                <a:spcPts val="3398"/>
              </a:lnSpc>
            </a:pPr>
            <a:r>
              <a:rPr lang="en-US" sz="2400" b="true">
                <a:solidFill>
                  <a:srgbClr val="572525"/>
                </a:solidFill>
                <a:latin typeface="Poppins Semi-Bold"/>
                <a:ea typeface="Poppins Semi-Bold"/>
                <a:cs typeface="Poppins Semi-Bold"/>
                <a:sym typeface="Poppins Semi-Bold"/>
              </a:rPr>
              <a:t>175 record awal dari 90 pasien.</a:t>
            </a:r>
          </a:p>
          <a:p>
            <a:pPr algn="l">
              <a:lnSpc>
                <a:spcPts val="3398"/>
              </a:lnSpc>
            </a:pPr>
          </a:p>
          <a:p>
            <a:pPr algn="l">
              <a:lnSpc>
                <a:spcPts val="3398"/>
              </a:lnSpc>
            </a:pPr>
            <a:r>
              <a:rPr lang="en-US" sz="2400" b="true">
                <a:solidFill>
                  <a:srgbClr val="572525"/>
                </a:solidFill>
                <a:latin typeface="Poppins Semi-Bold"/>
                <a:ea typeface="Poppins Semi-Bold"/>
                <a:cs typeface="Poppins Semi-Bold"/>
                <a:sym typeface="Poppins Semi-Bold"/>
              </a:rPr>
              <a:t>97 glaukoma dan 78 normal.</a:t>
            </a:r>
          </a:p>
        </p:txBody>
      </p:sp>
      <p:sp>
        <p:nvSpPr>
          <p:cNvPr name="TextBox 15" id="15"/>
          <p:cNvSpPr txBox="true"/>
          <p:nvPr/>
        </p:nvSpPr>
        <p:spPr>
          <a:xfrm rot="0">
            <a:off x="2011680" y="6361557"/>
            <a:ext cx="14081760" cy="615315"/>
          </a:xfrm>
          <a:prstGeom prst="rect">
            <a:avLst/>
          </a:prstGeom>
        </p:spPr>
        <p:txBody>
          <a:bodyPr anchor="t" rtlCol="false" tIns="0" lIns="0" bIns="0" rIns="0">
            <a:spAutoFit/>
          </a:bodyPr>
          <a:lstStyle/>
          <a:p>
            <a:pPr algn="l">
              <a:lnSpc>
                <a:spcPts val="3115"/>
              </a:lnSpc>
            </a:pPr>
            <a:r>
              <a:rPr lang="en-US" sz="2199" b="true">
                <a:solidFill>
                  <a:srgbClr val="572525"/>
                </a:solidFill>
                <a:latin typeface="Poppins Bold"/>
                <a:ea typeface="Poppins Bold"/>
                <a:cs typeface="Poppins Bold"/>
                <a:sym typeface="Poppins Bold"/>
              </a:rPr>
              <a:t>B. Boxplot 12 label RNFL sebelum normalisasi OD</a:t>
            </a:r>
          </a:p>
        </p:txBody>
      </p:sp>
      <p:grpSp>
        <p:nvGrpSpPr>
          <p:cNvPr name="Group 16" id="16"/>
          <p:cNvGrpSpPr/>
          <p:nvPr/>
        </p:nvGrpSpPr>
        <p:grpSpPr>
          <a:xfrm rot="0">
            <a:off x="2556139" y="6903720"/>
            <a:ext cx="5985167" cy="1828800"/>
            <a:chOff x="0" y="0"/>
            <a:chExt cx="7980223" cy="2438400"/>
          </a:xfrm>
        </p:grpSpPr>
        <p:sp>
          <p:nvSpPr>
            <p:cNvPr name="Freeform 17" id="17" descr="Output notebook asli"/>
            <p:cNvSpPr/>
            <p:nvPr/>
          </p:nvSpPr>
          <p:spPr>
            <a:xfrm flipH="false" flipV="false" rot="0">
              <a:off x="0" y="0"/>
              <a:ext cx="7980172" cy="2438400"/>
            </a:xfrm>
            <a:custGeom>
              <a:avLst/>
              <a:gdLst/>
              <a:ahLst/>
              <a:cxnLst/>
              <a:rect r="r" b="b" t="t" l="l"/>
              <a:pathLst>
                <a:path h="2438400" w="7980172">
                  <a:moveTo>
                    <a:pt x="0" y="0"/>
                  </a:moveTo>
                  <a:lnTo>
                    <a:pt x="7980172" y="0"/>
                  </a:lnTo>
                  <a:lnTo>
                    <a:pt x="7980172" y="2438400"/>
                  </a:lnTo>
                  <a:lnTo>
                    <a:pt x="0" y="2438400"/>
                  </a:lnTo>
                  <a:lnTo>
                    <a:pt x="0" y="0"/>
                  </a:lnTo>
                  <a:close/>
                </a:path>
              </a:pathLst>
            </a:custGeom>
            <a:blipFill>
              <a:blip r:embed="rId7"/>
              <a:stretch>
                <a:fillRect l="0" t="0" r="0" b="0"/>
              </a:stretch>
            </a:blipFill>
          </p:spPr>
        </p:sp>
      </p:grpSp>
      <p:sp>
        <p:nvSpPr>
          <p:cNvPr name="TextBox 18" id="18"/>
          <p:cNvSpPr txBox="true"/>
          <p:nvPr/>
        </p:nvSpPr>
        <p:spPr>
          <a:xfrm rot="0">
            <a:off x="10881360" y="6882765"/>
            <a:ext cx="5120640" cy="1804035"/>
          </a:xfrm>
          <a:prstGeom prst="rect">
            <a:avLst/>
          </a:prstGeom>
        </p:spPr>
        <p:txBody>
          <a:bodyPr anchor="t" rtlCol="false" tIns="0" lIns="0" bIns="0" rIns="0">
            <a:spAutoFit/>
          </a:bodyPr>
          <a:lstStyle/>
          <a:p>
            <a:pPr algn="l">
              <a:lnSpc>
                <a:spcPts val="3398"/>
              </a:lnSpc>
            </a:pPr>
            <a:r>
              <a:rPr lang="en-US" sz="2400" b="true">
                <a:solidFill>
                  <a:srgbClr val="572525"/>
                </a:solidFill>
                <a:latin typeface="Poppins Semi-Bold"/>
                <a:ea typeface="Poppins Semi-Bold"/>
                <a:cs typeface="Poppins Semi-Bold"/>
                <a:sym typeface="Poppins Semi-Bold"/>
              </a:rPr>
              <a:t>Sebaran ketebalan berbeda antarsektor.</a:t>
            </a:r>
          </a:p>
          <a:p>
            <a:pPr algn="l">
              <a:lnSpc>
                <a:spcPts val="3398"/>
              </a:lnSpc>
            </a:pPr>
          </a:p>
          <a:p>
            <a:pPr algn="l">
              <a:lnSpc>
                <a:spcPts val="3398"/>
              </a:lnSpc>
            </a:pPr>
            <a:r>
              <a:rPr lang="en-US" sz="2400" b="true">
                <a:solidFill>
                  <a:srgbClr val="572525"/>
                </a:solidFill>
                <a:latin typeface="Poppins Semi-Bold"/>
                <a:ea typeface="Poppins Semi-Bold"/>
                <a:cs typeface="Poppins Semi-Bold"/>
                <a:sym typeface="Poppins Semi-Bold"/>
              </a:rPr>
              <a:t>Boxplot memeriksa variasi dan nilai ekstrem.</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1713090" y="1431284"/>
            <a:ext cx="659244" cy="659244"/>
          </a:xfrm>
          <a:custGeom>
            <a:avLst/>
            <a:gdLst/>
            <a:ahLst/>
            <a:cxnLst/>
            <a:rect r="r" b="b" t="t" l="l"/>
            <a:pathLst>
              <a:path h="659244" w="659244">
                <a:moveTo>
                  <a:pt x="0" y="0"/>
                </a:moveTo>
                <a:lnTo>
                  <a:pt x="659245" y="0"/>
                </a:lnTo>
                <a:lnTo>
                  <a:pt x="659245" y="659244"/>
                </a:lnTo>
                <a:lnTo>
                  <a:pt x="0" y="6592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597706" y="1553204"/>
            <a:ext cx="5943600" cy="434473"/>
          </a:xfrm>
          <a:prstGeom prst="rect">
            <a:avLst/>
          </a:prstGeom>
        </p:spPr>
        <p:txBody>
          <a:bodyPr anchor="t" rtlCol="false" tIns="0" lIns="0" bIns="0" rIns="0">
            <a:spAutoFit/>
          </a:bodyPr>
          <a:lstStyle/>
          <a:p>
            <a:pPr algn="l">
              <a:lnSpc>
                <a:spcPts val="3231"/>
              </a:lnSpc>
            </a:pPr>
            <a:r>
              <a:rPr lang="en-US" sz="2991" b="true">
                <a:solidFill>
                  <a:srgbClr val="FFFFFF"/>
                </a:solidFill>
                <a:latin typeface="Poppins Bold"/>
                <a:ea typeface="Poppins Bold"/>
                <a:cs typeface="Poppins Bold"/>
                <a:sym typeface="Poppins Bold"/>
              </a:rPr>
              <a:t>ETS Machine Learning</a:t>
            </a:r>
          </a:p>
        </p:txBody>
      </p:sp>
      <p:grpSp>
        <p:nvGrpSpPr>
          <p:cNvPr name="Group 6" id="6"/>
          <p:cNvGrpSpPr/>
          <p:nvPr/>
        </p:nvGrpSpPr>
        <p:grpSpPr>
          <a:xfrm rot="0">
            <a:off x="1371600" y="2423160"/>
            <a:ext cx="15544800" cy="7178040"/>
            <a:chOff x="0" y="0"/>
            <a:chExt cx="20726400" cy="9570720"/>
          </a:xfrm>
        </p:grpSpPr>
        <p:sp>
          <p:nvSpPr>
            <p:cNvPr name="Freeform 7" id="7"/>
            <p:cNvSpPr/>
            <p:nvPr/>
          </p:nvSpPr>
          <p:spPr>
            <a:xfrm flipH="false" flipV="false" rot="0">
              <a:off x="0" y="0"/>
              <a:ext cx="20726400" cy="9570720"/>
            </a:xfrm>
            <a:custGeom>
              <a:avLst/>
              <a:gdLst/>
              <a:ahLst/>
              <a:cxnLst/>
              <a:rect r="r" b="b" t="t" l="l"/>
              <a:pathLst>
                <a:path h="9570720" w="20726400">
                  <a:moveTo>
                    <a:pt x="440817" y="0"/>
                  </a:moveTo>
                  <a:lnTo>
                    <a:pt x="20285583" y="0"/>
                  </a:lnTo>
                  <a:cubicBezTo>
                    <a:pt x="20402550" y="0"/>
                    <a:pt x="20514692" y="23241"/>
                    <a:pt x="20597369" y="64516"/>
                  </a:cubicBezTo>
                  <a:cubicBezTo>
                    <a:pt x="20680046" y="105791"/>
                    <a:pt x="20726400" y="161925"/>
                    <a:pt x="20726400" y="220345"/>
                  </a:cubicBezTo>
                  <a:lnTo>
                    <a:pt x="20726400" y="9350375"/>
                  </a:lnTo>
                  <a:cubicBezTo>
                    <a:pt x="20726400" y="9472041"/>
                    <a:pt x="20529042" y="9570720"/>
                    <a:pt x="20285583" y="9570720"/>
                  </a:cubicBezTo>
                  <a:lnTo>
                    <a:pt x="440817" y="9570720"/>
                  </a:lnTo>
                  <a:cubicBezTo>
                    <a:pt x="323850" y="9570720"/>
                    <a:pt x="211709" y="9547479"/>
                    <a:pt x="129159" y="9506204"/>
                  </a:cubicBezTo>
                  <a:cubicBezTo>
                    <a:pt x="46609" y="9464929"/>
                    <a:pt x="0" y="9408795"/>
                    <a:pt x="0" y="9350375"/>
                  </a:cubicBezTo>
                  <a:lnTo>
                    <a:pt x="0" y="220345"/>
                  </a:lnTo>
                  <a:cubicBezTo>
                    <a:pt x="0" y="98679"/>
                    <a:pt x="197358" y="0"/>
                    <a:pt x="440817" y="0"/>
                  </a:cubicBezTo>
                  <a:close/>
                </a:path>
              </a:pathLst>
            </a:custGeom>
            <a:solidFill>
              <a:srgbClr val="FFFFFF"/>
            </a:solidFill>
          </p:spPr>
        </p:sp>
      </p:grpSp>
      <p:sp>
        <p:nvSpPr>
          <p:cNvPr name="TextBox 8" id="8"/>
          <p:cNvSpPr txBox="true"/>
          <p:nvPr/>
        </p:nvSpPr>
        <p:spPr>
          <a:xfrm rot="0">
            <a:off x="10515600" y="1506093"/>
            <a:ext cx="5760720" cy="478155"/>
          </a:xfrm>
          <a:prstGeom prst="rect">
            <a:avLst/>
          </a:prstGeom>
        </p:spPr>
        <p:txBody>
          <a:bodyPr anchor="t" rtlCol="false" tIns="0" lIns="0" bIns="0" rIns="0">
            <a:spAutoFit/>
          </a:bodyPr>
          <a:lstStyle/>
          <a:p>
            <a:pPr algn="l">
              <a:lnSpc>
                <a:spcPts val="2832"/>
              </a:lnSpc>
            </a:pPr>
            <a:r>
              <a:rPr lang="en-US" sz="2000" b="true">
                <a:solidFill>
                  <a:srgbClr val="FFFFFF"/>
                </a:solidFill>
                <a:latin typeface="Poppins Bold"/>
                <a:ea typeface="Poppins Bold"/>
                <a:cs typeface="Poppins Bold"/>
                <a:sym typeface="Poppins Bold"/>
              </a:rPr>
              <a:t>03 HASIL</a:t>
            </a:r>
          </a:p>
        </p:txBody>
      </p:sp>
      <p:sp>
        <p:nvSpPr>
          <p:cNvPr name="TextBox 9" id="9"/>
          <p:cNvSpPr txBox="true"/>
          <p:nvPr/>
        </p:nvSpPr>
        <p:spPr>
          <a:xfrm rot="0">
            <a:off x="1874520" y="2637282"/>
            <a:ext cx="14538960" cy="1002030"/>
          </a:xfrm>
          <a:prstGeom prst="rect">
            <a:avLst/>
          </a:prstGeom>
        </p:spPr>
        <p:txBody>
          <a:bodyPr anchor="t" rtlCol="false" tIns="0" lIns="0" bIns="0" rIns="0">
            <a:spAutoFit/>
          </a:bodyPr>
          <a:lstStyle/>
          <a:p>
            <a:pPr algn="l">
              <a:lnSpc>
                <a:spcPts val="6513"/>
              </a:lnSpc>
            </a:pPr>
            <a:r>
              <a:rPr lang="en-US" sz="4599" b="true">
                <a:solidFill>
                  <a:srgbClr val="572525"/>
                </a:solidFill>
                <a:latin typeface="Poppins Bold"/>
                <a:ea typeface="Poppins Bold"/>
                <a:cs typeface="Poppins Bold"/>
                <a:sym typeface="Poppins Bold"/>
              </a:rPr>
              <a:t>Audit label dan kualitas citra</a:t>
            </a:r>
          </a:p>
        </p:txBody>
      </p:sp>
      <p:sp>
        <p:nvSpPr>
          <p:cNvPr name="TextBox 10" id="10"/>
          <p:cNvSpPr txBox="true"/>
          <p:nvPr/>
        </p:nvSpPr>
        <p:spPr>
          <a:xfrm rot="0">
            <a:off x="1901952" y="9078087"/>
            <a:ext cx="14447520" cy="303657"/>
          </a:xfrm>
          <a:prstGeom prst="rect">
            <a:avLst/>
          </a:prstGeom>
        </p:spPr>
        <p:txBody>
          <a:bodyPr anchor="t" rtlCol="false" tIns="0" lIns="0" bIns="0" rIns="0">
            <a:spAutoFit/>
          </a:bodyPr>
          <a:lstStyle/>
          <a:p>
            <a:pPr algn="l">
              <a:lnSpc>
                <a:spcPts val="1982"/>
              </a:lnSpc>
            </a:pPr>
            <a:r>
              <a:rPr lang="en-US" sz="1400" b="true">
                <a:solidFill>
                  <a:srgbClr val="572525"/>
                </a:solidFill>
                <a:latin typeface="Poppins Semi-Bold"/>
                <a:ea typeface="Poppins Semi-Bold"/>
                <a:cs typeface="Poppins Semi-Bold"/>
                <a:sym typeface="Poppins Semi-Bold"/>
              </a:rPr>
              <a:t>03 Hasil     07</a:t>
            </a:r>
          </a:p>
        </p:txBody>
      </p:sp>
      <p:sp>
        <p:nvSpPr>
          <p:cNvPr name="TextBox 11" id="11"/>
          <p:cNvSpPr txBox="true"/>
          <p:nvPr/>
        </p:nvSpPr>
        <p:spPr>
          <a:xfrm rot="0">
            <a:off x="2011680" y="3773805"/>
            <a:ext cx="8686800" cy="615315"/>
          </a:xfrm>
          <a:prstGeom prst="rect">
            <a:avLst/>
          </a:prstGeom>
        </p:spPr>
        <p:txBody>
          <a:bodyPr anchor="t" rtlCol="false" tIns="0" lIns="0" bIns="0" rIns="0">
            <a:spAutoFit/>
          </a:bodyPr>
          <a:lstStyle/>
          <a:p>
            <a:pPr algn="l">
              <a:lnSpc>
                <a:spcPts val="3115"/>
              </a:lnSpc>
            </a:pPr>
            <a:r>
              <a:rPr lang="en-US" sz="2199" b="true">
                <a:solidFill>
                  <a:srgbClr val="572525"/>
                </a:solidFill>
                <a:latin typeface="Poppins Bold"/>
                <a:ea typeface="Poppins Bold"/>
                <a:cs typeface="Poppins Bold"/>
                <a:sym typeface="Poppins Bold"/>
              </a:rPr>
              <a:t>A. Heatmap record × sektor</a:t>
            </a:r>
          </a:p>
        </p:txBody>
      </p:sp>
      <p:grpSp>
        <p:nvGrpSpPr>
          <p:cNvPr name="Group 12" id="12"/>
          <p:cNvGrpSpPr/>
          <p:nvPr/>
        </p:nvGrpSpPr>
        <p:grpSpPr>
          <a:xfrm rot="0">
            <a:off x="2011680" y="4561846"/>
            <a:ext cx="8595360" cy="2580627"/>
            <a:chOff x="0" y="0"/>
            <a:chExt cx="11460480" cy="3440836"/>
          </a:xfrm>
        </p:grpSpPr>
        <p:sp>
          <p:nvSpPr>
            <p:cNvPr name="Freeform 13" id="13" descr="Output notebook asli"/>
            <p:cNvSpPr/>
            <p:nvPr/>
          </p:nvSpPr>
          <p:spPr>
            <a:xfrm flipH="false" flipV="false" rot="0">
              <a:off x="0" y="0"/>
              <a:ext cx="11460480" cy="3440811"/>
            </a:xfrm>
            <a:custGeom>
              <a:avLst/>
              <a:gdLst/>
              <a:ahLst/>
              <a:cxnLst/>
              <a:rect r="r" b="b" t="t" l="l"/>
              <a:pathLst>
                <a:path h="3440811" w="11460480">
                  <a:moveTo>
                    <a:pt x="0" y="0"/>
                  </a:moveTo>
                  <a:lnTo>
                    <a:pt x="11460480" y="0"/>
                  </a:lnTo>
                  <a:lnTo>
                    <a:pt x="11460480" y="3440811"/>
                  </a:lnTo>
                  <a:lnTo>
                    <a:pt x="0" y="3440811"/>
                  </a:lnTo>
                  <a:lnTo>
                    <a:pt x="0" y="0"/>
                  </a:lnTo>
                  <a:close/>
                </a:path>
              </a:pathLst>
            </a:custGeom>
            <a:blipFill>
              <a:blip r:embed="rId6"/>
              <a:stretch>
                <a:fillRect l="0" t="0" r="0" b="0"/>
              </a:stretch>
            </a:blipFill>
          </p:spPr>
        </p:sp>
      </p:grpSp>
      <p:sp>
        <p:nvSpPr>
          <p:cNvPr name="TextBox 14" id="14"/>
          <p:cNvSpPr txBox="true"/>
          <p:nvPr/>
        </p:nvSpPr>
        <p:spPr>
          <a:xfrm rot="0">
            <a:off x="2011680" y="7367778"/>
            <a:ext cx="8503920" cy="403631"/>
          </a:xfrm>
          <a:prstGeom prst="rect">
            <a:avLst/>
          </a:prstGeom>
        </p:spPr>
        <p:txBody>
          <a:bodyPr anchor="t" rtlCol="false" tIns="0" lIns="0" bIns="0" rIns="0">
            <a:spAutoFit/>
          </a:bodyPr>
          <a:lstStyle/>
          <a:p>
            <a:pPr algn="l">
              <a:lnSpc>
                <a:spcPts val="3256"/>
              </a:lnSpc>
            </a:pPr>
            <a:r>
              <a:rPr lang="en-US" sz="2300" b="true">
                <a:solidFill>
                  <a:srgbClr val="572525"/>
                </a:solidFill>
                <a:latin typeface="Poppins Semi-Bold"/>
                <a:ea typeface="Poppins Semi-Bold"/>
                <a:cs typeface="Poppins Semi-Bold"/>
                <a:sym typeface="Poppins Semi-Bold"/>
              </a:rPr>
              <a:t>Proses: memetakan nilai label. </a:t>
            </a:r>
          </a:p>
        </p:txBody>
      </p:sp>
      <p:sp>
        <p:nvSpPr>
          <p:cNvPr name="TextBox 15" id="15"/>
          <p:cNvSpPr txBox="true"/>
          <p:nvPr/>
        </p:nvSpPr>
        <p:spPr>
          <a:xfrm rot="0">
            <a:off x="11064240" y="3773805"/>
            <a:ext cx="5029200" cy="615315"/>
          </a:xfrm>
          <a:prstGeom prst="rect">
            <a:avLst/>
          </a:prstGeom>
        </p:spPr>
        <p:txBody>
          <a:bodyPr anchor="t" rtlCol="false" tIns="0" lIns="0" bIns="0" rIns="0">
            <a:spAutoFit/>
          </a:bodyPr>
          <a:lstStyle/>
          <a:p>
            <a:pPr algn="l">
              <a:lnSpc>
                <a:spcPts val="3115"/>
              </a:lnSpc>
            </a:pPr>
            <a:r>
              <a:rPr lang="en-US" sz="2199" b="true">
                <a:solidFill>
                  <a:srgbClr val="572525"/>
                </a:solidFill>
                <a:latin typeface="Poppins Bold"/>
                <a:ea typeface="Poppins Bold"/>
                <a:cs typeface="Poppins Bold"/>
                <a:sym typeface="Poppins Bold"/>
              </a:rPr>
              <a:t>B. Montase foto terpilih</a:t>
            </a:r>
          </a:p>
        </p:txBody>
      </p:sp>
      <p:grpSp>
        <p:nvGrpSpPr>
          <p:cNvPr name="Group 16" id="16"/>
          <p:cNvGrpSpPr/>
          <p:nvPr/>
        </p:nvGrpSpPr>
        <p:grpSpPr>
          <a:xfrm rot="0">
            <a:off x="11664782" y="4434840"/>
            <a:ext cx="3828117" cy="3703320"/>
            <a:chOff x="0" y="0"/>
            <a:chExt cx="5104155" cy="4937760"/>
          </a:xfrm>
        </p:grpSpPr>
        <p:sp>
          <p:nvSpPr>
            <p:cNvPr name="Freeform 17" id="17" descr="Output notebook asli"/>
            <p:cNvSpPr/>
            <p:nvPr/>
          </p:nvSpPr>
          <p:spPr>
            <a:xfrm flipH="false" flipV="false" rot="0">
              <a:off x="0" y="0"/>
              <a:ext cx="5104130" cy="4937760"/>
            </a:xfrm>
            <a:custGeom>
              <a:avLst/>
              <a:gdLst/>
              <a:ahLst/>
              <a:cxnLst/>
              <a:rect r="r" b="b" t="t" l="l"/>
              <a:pathLst>
                <a:path h="4937760" w="5104130">
                  <a:moveTo>
                    <a:pt x="0" y="0"/>
                  </a:moveTo>
                  <a:lnTo>
                    <a:pt x="5104130" y="0"/>
                  </a:lnTo>
                  <a:lnTo>
                    <a:pt x="5104130" y="4937760"/>
                  </a:lnTo>
                  <a:lnTo>
                    <a:pt x="0" y="4937760"/>
                  </a:lnTo>
                  <a:lnTo>
                    <a:pt x="0" y="0"/>
                  </a:lnTo>
                  <a:close/>
                </a:path>
              </a:pathLst>
            </a:custGeom>
            <a:blipFill>
              <a:blip r:embed="rId7"/>
              <a:stretch>
                <a:fillRect l="0" t="0" r="0" b="0"/>
              </a:stretch>
            </a:blipFill>
          </p:spPr>
        </p:sp>
      </p:grpSp>
      <p:sp>
        <p:nvSpPr>
          <p:cNvPr name="TextBox 18" id="18"/>
          <p:cNvSpPr txBox="true"/>
          <p:nvPr/>
        </p:nvSpPr>
        <p:spPr>
          <a:xfrm rot="0">
            <a:off x="11064240" y="8236458"/>
            <a:ext cx="4937760" cy="788670"/>
          </a:xfrm>
          <a:prstGeom prst="rect">
            <a:avLst/>
          </a:prstGeom>
        </p:spPr>
        <p:txBody>
          <a:bodyPr anchor="t" rtlCol="false" tIns="0" lIns="0" bIns="0" rIns="0">
            <a:spAutoFit/>
          </a:bodyPr>
          <a:lstStyle/>
          <a:p>
            <a:pPr algn="l">
              <a:lnSpc>
                <a:spcPts val="2973"/>
              </a:lnSpc>
            </a:pPr>
            <a:r>
              <a:rPr lang="en-US" sz="2100" b="true">
                <a:solidFill>
                  <a:srgbClr val="572525"/>
                </a:solidFill>
                <a:latin typeface="Poppins Semi-Bold"/>
                <a:ea typeface="Poppins Semi-Bold"/>
                <a:cs typeface="Poppins Semi-Bold"/>
                <a:sym typeface="Poppins Semi-Bold"/>
              </a:rPr>
              <a:t>Proses: inspeksi fokus, pencahayaan, dan cakupan retina.</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1713090" y="1431284"/>
            <a:ext cx="659244" cy="659244"/>
          </a:xfrm>
          <a:custGeom>
            <a:avLst/>
            <a:gdLst/>
            <a:ahLst/>
            <a:cxnLst/>
            <a:rect r="r" b="b" t="t" l="l"/>
            <a:pathLst>
              <a:path h="659244" w="659244">
                <a:moveTo>
                  <a:pt x="0" y="0"/>
                </a:moveTo>
                <a:lnTo>
                  <a:pt x="659245" y="0"/>
                </a:lnTo>
                <a:lnTo>
                  <a:pt x="659245" y="659244"/>
                </a:lnTo>
                <a:lnTo>
                  <a:pt x="0" y="6592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597706" y="1553204"/>
            <a:ext cx="5943600" cy="434473"/>
          </a:xfrm>
          <a:prstGeom prst="rect">
            <a:avLst/>
          </a:prstGeom>
        </p:spPr>
        <p:txBody>
          <a:bodyPr anchor="t" rtlCol="false" tIns="0" lIns="0" bIns="0" rIns="0">
            <a:spAutoFit/>
          </a:bodyPr>
          <a:lstStyle/>
          <a:p>
            <a:pPr algn="l">
              <a:lnSpc>
                <a:spcPts val="3231"/>
              </a:lnSpc>
            </a:pPr>
            <a:r>
              <a:rPr lang="en-US" sz="2991" b="true">
                <a:solidFill>
                  <a:srgbClr val="FFFFFF"/>
                </a:solidFill>
                <a:latin typeface="Poppins Bold"/>
                <a:ea typeface="Poppins Bold"/>
                <a:cs typeface="Poppins Bold"/>
                <a:sym typeface="Poppins Bold"/>
              </a:rPr>
              <a:t>ETS Machine Learning</a:t>
            </a:r>
          </a:p>
        </p:txBody>
      </p:sp>
      <p:grpSp>
        <p:nvGrpSpPr>
          <p:cNvPr name="Group 6" id="6"/>
          <p:cNvGrpSpPr/>
          <p:nvPr/>
        </p:nvGrpSpPr>
        <p:grpSpPr>
          <a:xfrm rot="0">
            <a:off x="1371600" y="2423160"/>
            <a:ext cx="15544800" cy="7178040"/>
            <a:chOff x="0" y="0"/>
            <a:chExt cx="20726400" cy="9570720"/>
          </a:xfrm>
        </p:grpSpPr>
        <p:sp>
          <p:nvSpPr>
            <p:cNvPr name="Freeform 7" id="7"/>
            <p:cNvSpPr/>
            <p:nvPr/>
          </p:nvSpPr>
          <p:spPr>
            <a:xfrm flipH="false" flipV="false" rot="0">
              <a:off x="0" y="0"/>
              <a:ext cx="20726400" cy="9570720"/>
            </a:xfrm>
            <a:custGeom>
              <a:avLst/>
              <a:gdLst/>
              <a:ahLst/>
              <a:cxnLst/>
              <a:rect r="r" b="b" t="t" l="l"/>
              <a:pathLst>
                <a:path h="9570720" w="20726400">
                  <a:moveTo>
                    <a:pt x="440817" y="0"/>
                  </a:moveTo>
                  <a:lnTo>
                    <a:pt x="20285583" y="0"/>
                  </a:lnTo>
                  <a:cubicBezTo>
                    <a:pt x="20402550" y="0"/>
                    <a:pt x="20514692" y="23241"/>
                    <a:pt x="20597369" y="64516"/>
                  </a:cubicBezTo>
                  <a:cubicBezTo>
                    <a:pt x="20680046" y="105791"/>
                    <a:pt x="20726400" y="161925"/>
                    <a:pt x="20726400" y="220345"/>
                  </a:cubicBezTo>
                  <a:lnTo>
                    <a:pt x="20726400" y="9350375"/>
                  </a:lnTo>
                  <a:cubicBezTo>
                    <a:pt x="20726400" y="9472041"/>
                    <a:pt x="20529042" y="9570720"/>
                    <a:pt x="20285583" y="9570720"/>
                  </a:cubicBezTo>
                  <a:lnTo>
                    <a:pt x="440817" y="9570720"/>
                  </a:lnTo>
                  <a:cubicBezTo>
                    <a:pt x="323850" y="9570720"/>
                    <a:pt x="211709" y="9547479"/>
                    <a:pt x="129159" y="9506204"/>
                  </a:cubicBezTo>
                  <a:cubicBezTo>
                    <a:pt x="46609" y="9464929"/>
                    <a:pt x="0" y="9408795"/>
                    <a:pt x="0" y="9350375"/>
                  </a:cubicBezTo>
                  <a:lnTo>
                    <a:pt x="0" y="220345"/>
                  </a:lnTo>
                  <a:cubicBezTo>
                    <a:pt x="0" y="98679"/>
                    <a:pt x="197358" y="0"/>
                    <a:pt x="440817" y="0"/>
                  </a:cubicBezTo>
                  <a:close/>
                </a:path>
              </a:pathLst>
            </a:custGeom>
            <a:solidFill>
              <a:srgbClr val="FFFFFF"/>
            </a:solidFill>
          </p:spPr>
        </p:sp>
      </p:grpSp>
      <p:sp>
        <p:nvSpPr>
          <p:cNvPr name="TextBox 8" id="8"/>
          <p:cNvSpPr txBox="true"/>
          <p:nvPr/>
        </p:nvSpPr>
        <p:spPr>
          <a:xfrm rot="0">
            <a:off x="10515600" y="1506093"/>
            <a:ext cx="5760720" cy="478155"/>
          </a:xfrm>
          <a:prstGeom prst="rect">
            <a:avLst/>
          </a:prstGeom>
        </p:spPr>
        <p:txBody>
          <a:bodyPr anchor="t" rtlCol="false" tIns="0" lIns="0" bIns="0" rIns="0">
            <a:spAutoFit/>
          </a:bodyPr>
          <a:lstStyle/>
          <a:p>
            <a:pPr algn="l">
              <a:lnSpc>
                <a:spcPts val="2832"/>
              </a:lnSpc>
            </a:pPr>
            <a:r>
              <a:rPr lang="en-US" sz="2000" b="true">
                <a:solidFill>
                  <a:srgbClr val="FFFFFF"/>
                </a:solidFill>
                <a:latin typeface="Poppins Bold"/>
                <a:ea typeface="Poppins Bold"/>
                <a:cs typeface="Poppins Bold"/>
                <a:sym typeface="Poppins Bold"/>
              </a:rPr>
              <a:t>03 HASIL</a:t>
            </a:r>
          </a:p>
        </p:txBody>
      </p:sp>
      <p:sp>
        <p:nvSpPr>
          <p:cNvPr name="TextBox 9" id="9"/>
          <p:cNvSpPr txBox="true"/>
          <p:nvPr/>
        </p:nvSpPr>
        <p:spPr>
          <a:xfrm rot="0">
            <a:off x="1874520" y="2637282"/>
            <a:ext cx="14538960" cy="1002030"/>
          </a:xfrm>
          <a:prstGeom prst="rect">
            <a:avLst/>
          </a:prstGeom>
        </p:spPr>
        <p:txBody>
          <a:bodyPr anchor="t" rtlCol="false" tIns="0" lIns="0" bIns="0" rIns="0">
            <a:spAutoFit/>
          </a:bodyPr>
          <a:lstStyle/>
          <a:p>
            <a:pPr algn="l">
              <a:lnSpc>
                <a:spcPts val="6513"/>
              </a:lnSpc>
            </a:pPr>
            <a:r>
              <a:rPr lang="en-US" sz="4599" b="true">
                <a:solidFill>
                  <a:srgbClr val="572525"/>
                </a:solidFill>
                <a:latin typeface="Poppins Bold"/>
                <a:ea typeface="Poppins Bold"/>
                <a:cs typeface="Poppins Bold"/>
                <a:sym typeface="Poppins Bold"/>
              </a:rPr>
              <a:t>Orientasi foto dan normalisasi target</a:t>
            </a:r>
          </a:p>
        </p:txBody>
      </p:sp>
      <p:sp>
        <p:nvSpPr>
          <p:cNvPr name="TextBox 10" id="10"/>
          <p:cNvSpPr txBox="true"/>
          <p:nvPr/>
        </p:nvSpPr>
        <p:spPr>
          <a:xfrm rot="0">
            <a:off x="1901952" y="9078087"/>
            <a:ext cx="14447520" cy="303657"/>
          </a:xfrm>
          <a:prstGeom prst="rect">
            <a:avLst/>
          </a:prstGeom>
        </p:spPr>
        <p:txBody>
          <a:bodyPr anchor="t" rtlCol="false" tIns="0" lIns="0" bIns="0" rIns="0">
            <a:spAutoFit/>
          </a:bodyPr>
          <a:lstStyle/>
          <a:p>
            <a:pPr algn="l">
              <a:lnSpc>
                <a:spcPts val="1982"/>
              </a:lnSpc>
            </a:pPr>
            <a:r>
              <a:rPr lang="en-US" sz="1400" b="true">
                <a:solidFill>
                  <a:srgbClr val="572525"/>
                </a:solidFill>
                <a:latin typeface="Poppins Semi-Bold"/>
                <a:ea typeface="Poppins Semi-Bold"/>
                <a:cs typeface="Poppins Semi-Bold"/>
                <a:sym typeface="Poppins Semi-Bold"/>
              </a:rPr>
              <a:t>03 Hasil     08</a:t>
            </a:r>
          </a:p>
        </p:txBody>
      </p:sp>
      <p:sp>
        <p:nvSpPr>
          <p:cNvPr name="TextBox 11" id="11"/>
          <p:cNvSpPr txBox="true"/>
          <p:nvPr/>
        </p:nvSpPr>
        <p:spPr>
          <a:xfrm rot="0">
            <a:off x="2011680" y="3755898"/>
            <a:ext cx="6217920" cy="605790"/>
          </a:xfrm>
          <a:prstGeom prst="rect">
            <a:avLst/>
          </a:prstGeom>
        </p:spPr>
        <p:txBody>
          <a:bodyPr anchor="t" rtlCol="false" tIns="0" lIns="0" bIns="0" rIns="0">
            <a:spAutoFit/>
          </a:bodyPr>
          <a:lstStyle/>
          <a:p>
            <a:pPr algn="l">
              <a:lnSpc>
                <a:spcPts val="2973"/>
              </a:lnSpc>
            </a:pPr>
            <a:r>
              <a:rPr lang="en-US" sz="2100" b="true">
                <a:solidFill>
                  <a:srgbClr val="572525"/>
                </a:solidFill>
                <a:latin typeface="Poppins Bold"/>
                <a:ea typeface="Poppins Bold"/>
                <a:cs typeface="Poppins Bold"/>
                <a:sym typeface="Poppins Bold"/>
              </a:rPr>
              <a:t>A. Contoh foto OD dan OS</a:t>
            </a:r>
          </a:p>
        </p:txBody>
      </p:sp>
      <p:grpSp>
        <p:nvGrpSpPr>
          <p:cNvPr name="Group 12" id="12"/>
          <p:cNvGrpSpPr/>
          <p:nvPr/>
        </p:nvGrpSpPr>
        <p:grpSpPr>
          <a:xfrm rot="0">
            <a:off x="3077185" y="4297680"/>
            <a:ext cx="3812581" cy="1874520"/>
            <a:chOff x="0" y="0"/>
            <a:chExt cx="5083442" cy="2499360"/>
          </a:xfrm>
        </p:grpSpPr>
        <p:sp>
          <p:nvSpPr>
            <p:cNvPr name="Freeform 13" id="13" descr="Output notebook asli"/>
            <p:cNvSpPr/>
            <p:nvPr/>
          </p:nvSpPr>
          <p:spPr>
            <a:xfrm flipH="false" flipV="false" rot="0">
              <a:off x="0" y="0"/>
              <a:ext cx="5083429" cy="2499360"/>
            </a:xfrm>
            <a:custGeom>
              <a:avLst/>
              <a:gdLst/>
              <a:ahLst/>
              <a:cxnLst/>
              <a:rect r="r" b="b" t="t" l="l"/>
              <a:pathLst>
                <a:path h="2499360" w="5083429">
                  <a:moveTo>
                    <a:pt x="0" y="0"/>
                  </a:moveTo>
                  <a:lnTo>
                    <a:pt x="5083429" y="0"/>
                  </a:lnTo>
                  <a:lnTo>
                    <a:pt x="5083429" y="2499360"/>
                  </a:lnTo>
                  <a:lnTo>
                    <a:pt x="0" y="2499360"/>
                  </a:lnTo>
                  <a:lnTo>
                    <a:pt x="0" y="0"/>
                  </a:lnTo>
                  <a:close/>
                </a:path>
              </a:pathLst>
            </a:custGeom>
            <a:blipFill>
              <a:blip r:embed="rId6"/>
              <a:stretch>
                <a:fillRect l="0" t="0" r="0" b="0"/>
              </a:stretch>
            </a:blipFill>
          </p:spPr>
        </p:sp>
      </p:grpSp>
      <p:sp>
        <p:nvSpPr>
          <p:cNvPr name="TextBox 14" id="14"/>
          <p:cNvSpPr txBox="true"/>
          <p:nvPr/>
        </p:nvSpPr>
        <p:spPr>
          <a:xfrm rot="0">
            <a:off x="8275320" y="3755898"/>
            <a:ext cx="3200400" cy="605790"/>
          </a:xfrm>
          <a:prstGeom prst="rect">
            <a:avLst/>
          </a:prstGeom>
        </p:spPr>
        <p:txBody>
          <a:bodyPr anchor="t" rtlCol="false" tIns="0" lIns="0" bIns="0" rIns="0">
            <a:spAutoFit/>
          </a:bodyPr>
          <a:lstStyle/>
          <a:p>
            <a:pPr algn="l">
              <a:lnSpc>
                <a:spcPts val="2973"/>
              </a:lnSpc>
            </a:pPr>
            <a:r>
              <a:rPr lang="en-US" sz="2100" b="true">
                <a:solidFill>
                  <a:srgbClr val="572525"/>
                </a:solidFill>
                <a:latin typeface="Poppins Bold"/>
                <a:ea typeface="Poppins Bold"/>
                <a:cs typeface="Poppins Bold"/>
                <a:sym typeface="Poppins Bold"/>
              </a:rPr>
              <a:t>B. Referensi jam</a:t>
            </a:r>
          </a:p>
        </p:txBody>
      </p:sp>
      <p:grpSp>
        <p:nvGrpSpPr>
          <p:cNvPr name="Group 15" id="15"/>
          <p:cNvGrpSpPr/>
          <p:nvPr/>
        </p:nvGrpSpPr>
        <p:grpSpPr>
          <a:xfrm rot="0">
            <a:off x="8767705" y="4279392"/>
            <a:ext cx="2070212" cy="2212848"/>
            <a:chOff x="0" y="0"/>
            <a:chExt cx="2566378" cy="2743200"/>
          </a:xfrm>
        </p:grpSpPr>
        <p:sp>
          <p:nvSpPr>
            <p:cNvPr name="Freeform 16" id="16" descr="Output notebook asli"/>
            <p:cNvSpPr/>
            <p:nvPr/>
          </p:nvSpPr>
          <p:spPr>
            <a:xfrm flipH="false" flipV="false" rot="0">
              <a:off x="0" y="0"/>
              <a:ext cx="2566416" cy="2743200"/>
            </a:xfrm>
            <a:custGeom>
              <a:avLst/>
              <a:gdLst/>
              <a:ahLst/>
              <a:cxnLst/>
              <a:rect r="r" b="b" t="t" l="l"/>
              <a:pathLst>
                <a:path h="2743200" w="2566416">
                  <a:moveTo>
                    <a:pt x="0" y="0"/>
                  </a:moveTo>
                  <a:lnTo>
                    <a:pt x="2566416" y="0"/>
                  </a:lnTo>
                  <a:lnTo>
                    <a:pt x="2566416" y="2743200"/>
                  </a:lnTo>
                  <a:lnTo>
                    <a:pt x="0" y="2743200"/>
                  </a:lnTo>
                  <a:lnTo>
                    <a:pt x="0" y="0"/>
                  </a:lnTo>
                  <a:close/>
                </a:path>
              </a:pathLst>
            </a:custGeom>
            <a:blipFill>
              <a:blip r:embed="rId7"/>
              <a:stretch>
                <a:fillRect l="0" t="0" r="1" b="0"/>
              </a:stretch>
            </a:blipFill>
          </p:spPr>
        </p:sp>
      </p:grpSp>
      <p:sp>
        <p:nvSpPr>
          <p:cNvPr name="TextBox 17" id="17"/>
          <p:cNvSpPr txBox="true"/>
          <p:nvPr/>
        </p:nvSpPr>
        <p:spPr>
          <a:xfrm rot="0">
            <a:off x="2011680" y="6435090"/>
            <a:ext cx="9601200" cy="605790"/>
          </a:xfrm>
          <a:prstGeom prst="rect">
            <a:avLst/>
          </a:prstGeom>
        </p:spPr>
        <p:txBody>
          <a:bodyPr anchor="t" rtlCol="false" tIns="0" lIns="0" bIns="0" rIns="0">
            <a:spAutoFit/>
          </a:bodyPr>
          <a:lstStyle/>
          <a:p>
            <a:pPr algn="l">
              <a:lnSpc>
                <a:spcPts val="2973"/>
              </a:lnSpc>
            </a:pPr>
            <a:r>
              <a:rPr lang="en-US" sz="2100" b="true">
                <a:solidFill>
                  <a:srgbClr val="572525"/>
                </a:solidFill>
                <a:latin typeface="Poppins Bold"/>
                <a:ea typeface="Poppins Bold"/>
                <a:cs typeface="Poppins Bold"/>
                <a:sym typeface="Poppins Bold"/>
              </a:rPr>
              <a:t>C. Profil target sebelum dan sesudah refleksi OD</a:t>
            </a:r>
          </a:p>
        </p:txBody>
      </p:sp>
      <p:grpSp>
        <p:nvGrpSpPr>
          <p:cNvPr name="Group 18" id="18"/>
          <p:cNvGrpSpPr/>
          <p:nvPr/>
        </p:nvGrpSpPr>
        <p:grpSpPr>
          <a:xfrm rot="0">
            <a:off x="3077185" y="6953250"/>
            <a:ext cx="5467131" cy="1783080"/>
            <a:chOff x="0" y="0"/>
            <a:chExt cx="7289508" cy="2377440"/>
          </a:xfrm>
        </p:grpSpPr>
        <p:sp>
          <p:nvSpPr>
            <p:cNvPr name="Freeform 19" id="19" descr="Output notebook asli"/>
            <p:cNvSpPr/>
            <p:nvPr/>
          </p:nvSpPr>
          <p:spPr>
            <a:xfrm flipH="false" flipV="false" rot="0">
              <a:off x="0" y="0"/>
              <a:ext cx="7289546" cy="2377440"/>
            </a:xfrm>
            <a:custGeom>
              <a:avLst/>
              <a:gdLst/>
              <a:ahLst/>
              <a:cxnLst/>
              <a:rect r="r" b="b" t="t" l="l"/>
              <a:pathLst>
                <a:path h="2377440" w="7289546">
                  <a:moveTo>
                    <a:pt x="0" y="0"/>
                  </a:moveTo>
                  <a:lnTo>
                    <a:pt x="7289546" y="0"/>
                  </a:lnTo>
                  <a:lnTo>
                    <a:pt x="7289546" y="2377440"/>
                  </a:lnTo>
                  <a:lnTo>
                    <a:pt x="0" y="2377440"/>
                  </a:lnTo>
                  <a:lnTo>
                    <a:pt x="0" y="0"/>
                  </a:lnTo>
                  <a:close/>
                </a:path>
              </a:pathLst>
            </a:custGeom>
            <a:blipFill>
              <a:blip r:embed="rId8"/>
              <a:stretch>
                <a:fillRect l="0" t="0" r="0" b="0"/>
              </a:stretch>
            </a:blipFill>
          </p:spPr>
        </p:sp>
      </p:grpSp>
      <p:sp>
        <p:nvSpPr>
          <p:cNvPr name="TextBox 20" id="20"/>
          <p:cNvSpPr txBox="true"/>
          <p:nvPr/>
        </p:nvSpPr>
        <p:spPr>
          <a:xfrm rot="0">
            <a:off x="11978640" y="4103370"/>
            <a:ext cx="3977640" cy="4583430"/>
          </a:xfrm>
          <a:prstGeom prst="rect">
            <a:avLst/>
          </a:prstGeom>
        </p:spPr>
        <p:txBody>
          <a:bodyPr anchor="t" rtlCol="false" tIns="0" lIns="0" bIns="0" rIns="0">
            <a:spAutoFit/>
          </a:bodyPr>
          <a:lstStyle/>
          <a:p>
            <a:pPr algn="l">
              <a:lnSpc>
                <a:spcPts val="3256"/>
              </a:lnSpc>
            </a:pPr>
            <a:r>
              <a:rPr lang="en-US" sz="2300" b="true">
                <a:solidFill>
                  <a:srgbClr val="572525"/>
                </a:solidFill>
                <a:latin typeface="Poppins Semi-Bold"/>
                <a:ea typeface="Poppins Semi-Bold"/>
                <a:cs typeface="Poppins Semi-Bold"/>
                <a:sym typeface="Poppins Semi-Bold"/>
              </a:rPr>
              <a:t>A: memeriksa letak temporal (T) dan nasal (N).</a:t>
            </a:r>
          </a:p>
          <a:p>
            <a:pPr algn="l">
              <a:lnSpc>
                <a:spcPts val="3256"/>
              </a:lnSpc>
            </a:pPr>
          </a:p>
          <a:p>
            <a:pPr algn="l">
              <a:lnSpc>
                <a:spcPts val="3256"/>
              </a:lnSpc>
            </a:pPr>
            <a:r>
              <a:rPr lang="en-US" sz="2300" b="true">
                <a:solidFill>
                  <a:srgbClr val="572525"/>
                </a:solidFill>
                <a:latin typeface="Poppins Semi-Bold"/>
                <a:ea typeface="Poppins Semi-Bold"/>
                <a:cs typeface="Poppins Semi-Bold"/>
                <a:sym typeface="Poppins Semi-Bold"/>
              </a:rPr>
              <a:t>B: menggambar konvensi target, jam 3 temporal dan jam 9 nasal.</a:t>
            </a:r>
          </a:p>
          <a:p>
            <a:pPr algn="l">
              <a:lnSpc>
                <a:spcPts val="3256"/>
              </a:lnSpc>
            </a:pPr>
          </a:p>
          <a:p>
            <a:pPr algn="l">
              <a:lnSpc>
                <a:spcPts val="3256"/>
              </a:lnSpc>
            </a:pPr>
            <a:r>
              <a:rPr lang="en-US" sz="2300" b="true">
                <a:solidFill>
                  <a:srgbClr val="572525"/>
                </a:solidFill>
                <a:latin typeface="Poppins Semi-Bold"/>
                <a:ea typeface="Poppins Semi-Bold"/>
                <a:cs typeface="Poppins Semi-Bold"/>
                <a:sym typeface="Poppins Semi-Bold"/>
              </a:rPr>
              <a:t>C: merefleksikan target OD. Profil OS tetap.</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1713090" y="1431284"/>
            <a:ext cx="659244" cy="659244"/>
          </a:xfrm>
          <a:custGeom>
            <a:avLst/>
            <a:gdLst/>
            <a:ahLst/>
            <a:cxnLst/>
            <a:rect r="r" b="b" t="t" l="l"/>
            <a:pathLst>
              <a:path h="659244" w="659244">
                <a:moveTo>
                  <a:pt x="0" y="0"/>
                </a:moveTo>
                <a:lnTo>
                  <a:pt x="659245" y="0"/>
                </a:lnTo>
                <a:lnTo>
                  <a:pt x="659245" y="659244"/>
                </a:lnTo>
                <a:lnTo>
                  <a:pt x="0" y="6592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597706" y="1553204"/>
            <a:ext cx="5943600" cy="434473"/>
          </a:xfrm>
          <a:prstGeom prst="rect">
            <a:avLst/>
          </a:prstGeom>
        </p:spPr>
        <p:txBody>
          <a:bodyPr anchor="t" rtlCol="false" tIns="0" lIns="0" bIns="0" rIns="0">
            <a:spAutoFit/>
          </a:bodyPr>
          <a:lstStyle/>
          <a:p>
            <a:pPr algn="l">
              <a:lnSpc>
                <a:spcPts val="3231"/>
              </a:lnSpc>
            </a:pPr>
            <a:r>
              <a:rPr lang="en-US" sz="2991" b="true">
                <a:solidFill>
                  <a:srgbClr val="FFFFFF"/>
                </a:solidFill>
                <a:latin typeface="Poppins Bold"/>
                <a:ea typeface="Poppins Bold"/>
                <a:cs typeface="Poppins Bold"/>
                <a:sym typeface="Poppins Bold"/>
              </a:rPr>
              <a:t>ETS Machine Learning</a:t>
            </a:r>
          </a:p>
        </p:txBody>
      </p:sp>
      <p:grpSp>
        <p:nvGrpSpPr>
          <p:cNvPr name="Group 6" id="6"/>
          <p:cNvGrpSpPr/>
          <p:nvPr/>
        </p:nvGrpSpPr>
        <p:grpSpPr>
          <a:xfrm rot="0">
            <a:off x="1371600" y="2423160"/>
            <a:ext cx="15544800" cy="7178040"/>
            <a:chOff x="0" y="0"/>
            <a:chExt cx="20726400" cy="9570720"/>
          </a:xfrm>
        </p:grpSpPr>
        <p:sp>
          <p:nvSpPr>
            <p:cNvPr name="Freeform 7" id="7"/>
            <p:cNvSpPr/>
            <p:nvPr/>
          </p:nvSpPr>
          <p:spPr>
            <a:xfrm flipH="false" flipV="false" rot="0">
              <a:off x="0" y="0"/>
              <a:ext cx="20726400" cy="9570720"/>
            </a:xfrm>
            <a:custGeom>
              <a:avLst/>
              <a:gdLst/>
              <a:ahLst/>
              <a:cxnLst/>
              <a:rect r="r" b="b" t="t" l="l"/>
              <a:pathLst>
                <a:path h="9570720" w="20726400">
                  <a:moveTo>
                    <a:pt x="440817" y="0"/>
                  </a:moveTo>
                  <a:lnTo>
                    <a:pt x="20285583" y="0"/>
                  </a:lnTo>
                  <a:cubicBezTo>
                    <a:pt x="20402550" y="0"/>
                    <a:pt x="20514692" y="23241"/>
                    <a:pt x="20597369" y="64516"/>
                  </a:cubicBezTo>
                  <a:cubicBezTo>
                    <a:pt x="20680046" y="105791"/>
                    <a:pt x="20726400" y="161925"/>
                    <a:pt x="20726400" y="220345"/>
                  </a:cubicBezTo>
                  <a:lnTo>
                    <a:pt x="20726400" y="9350375"/>
                  </a:lnTo>
                  <a:cubicBezTo>
                    <a:pt x="20726400" y="9472041"/>
                    <a:pt x="20529042" y="9570720"/>
                    <a:pt x="20285583" y="9570720"/>
                  </a:cubicBezTo>
                  <a:lnTo>
                    <a:pt x="440817" y="9570720"/>
                  </a:lnTo>
                  <a:cubicBezTo>
                    <a:pt x="323850" y="9570720"/>
                    <a:pt x="211709" y="9547479"/>
                    <a:pt x="129159" y="9506204"/>
                  </a:cubicBezTo>
                  <a:cubicBezTo>
                    <a:pt x="46609" y="9464929"/>
                    <a:pt x="0" y="9408795"/>
                    <a:pt x="0" y="9350375"/>
                  </a:cubicBezTo>
                  <a:lnTo>
                    <a:pt x="0" y="220345"/>
                  </a:lnTo>
                  <a:cubicBezTo>
                    <a:pt x="0" y="98679"/>
                    <a:pt x="197358" y="0"/>
                    <a:pt x="440817" y="0"/>
                  </a:cubicBezTo>
                  <a:close/>
                </a:path>
              </a:pathLst>
            </a:custGeom>
            <a:solidFill>
              <a:srgbClr val="FFFFFF"/>
            </a:solidFill>
          </p:spPr>
        </p:sp>
      </p:grpSp>
      <p:sp>
        <p:nvSpPr>
          <p:cNvPr name="TextBox 8" id="8"/>
          <p:cNvSpPr txBox="true"/>
          <p:nvPr/>
        </p:nvSpPr>
        <p:spPr>
          <a:xfrm rot="0">
            <a:off x="10515600" y="1506093"/>
            <a:ext cx="5760720" cy="478155"/>
          </a:xfrm>
          <a:prstGeom prst="rect">
            <a:avLst/>
          </a:prstGeom>
        </p:spPr>
        <p:txBody>
          <a:bodyPr anchor="t" rtlCol="false" tIns="0" lIns="0" bIns="0" rIns="0">
            <a:spAutoFit/>
          </a:bodyPr>
          <a:lstStyle/>
          <a:p>
            <a:pPr algn="l">
              <a:lnSpc>
                <a:spcPts val="2832"/>
              </a:lnSpc>
            </a:pPr>
            <a:r>
              <a:rPr lang="en-US" sz="2000" b="true">
                <a:solidFill>
                  <a:srgbClr val="FFFFFF"/>
                </a:solidFill>
                <a:latin typeface="Poppins Bold"/>
                <a:ea typeface="Poppins Bold"/>
                <a:cs typeface="Poppins Bold"/>
                <a:sym typeface="Poppins Bold"/>
              </a:rPr>
              <a:t>03 HASIL</a:t>
            </a:r>
          </a:p>
        </p:txBody>
      </p:sp>
      <p:sp>
        <p:nvSpPr>
          <p:cNvPr name="TextBox 9" id="9"/>
          <p:cNvSpPr txBox="true"/>
          <p:nvPr/>
        </p:nvSpPr>
        <p:spPr>
          <a:xfrm rot="0">
            <a:off x="1874520" y="2637282"/>
            <a:ext cx="14538960" cy="1002030"/>
          </a:xfrm>
          <a:prstGeom prst="rect">
            <a:avLst/>
          </a:prstGeom>
        </p:spPr>
        <p:txBody>
          <a:bodyPr anchor="t" rtlCol="false" tIns="0" lIns="0" bIns="0" rIns="0">
            <a:spAutoFit/>
          </a:bodyPr>
          <a:lstStyle/>
          <a:p>
            <a:pPr algn="l">
              <a:lnSpc>
                <a:spcPts val="6513"/>
              </a:lnSpc>
            </a:pPr>
            <a:r>
              <a:rPr lang="en-US" sz="4599" b="true">
                <a:solidFill>
                  <a:srgbClr val="572525"/>
                </a:solidFill>
                <a:latin typeface="Poppins Bold"/>
                <a:ea typeface="Poppins Bold"/>
                <a:cs typeface="Poppins Bold"/>
                <a:sym typeface="Poppins Bold"/>
              </a:rPr>
              <a:t>Hasil pembagian data dan ekstraksi fitur</a:t>
            </a:r>
          </a:p>
        </p:txBody>
      </p:sp>
      <p:sp>
        <p:nvSpPr>
          <p:cNvPr name="TextBox 10" id="10"/>
          <p:cNvSpPr txBox="true"/>
          <p:nvPr/>
        </p:nvSpPr>
        <p:spPr>
          <a:xfrm rot="0">
            <a:off x="1901952" y="9078087"/>
            <a:ext cx="14447520" cy="303657"/>
          </a:xfrm>
          <a:prstGeom prst="rect">
            <a:avLst/>
          </a:prstGeom>
        </p:spPr>
        <p:txBody>
          <a:bodyPr anchor="t" rtlCol="false" tIns="0" lIns="0" bIns="0" rIns="0">
            <a:spAutoFit/>
          </a:bodyPr>
          <a:lstStyle/>
          <a:p>
            <a:pPr algn="l">
              <a:lnSpc>
                <a:spcPts val="1982"/>
              </a:lnSpc>
            </a:pPr>
            <a:r>
              <a:rPr lang="en-US" sz="1400" b="true">
                <a:solidFill>
                  <a:srgbClr val="572525"/>
                </a:solidFill>
                <a:latin typeface="Poppins Semi-Bold"/>
                <a:ea typeface="Poppins Semi-Bold"/>
                <a:cs typeface="Poppins Semi-Bold"/>
                <a:sym typeface="Poppins Semi-Bold"/>
              </a:rPr>
              <a:t>03 Hasil     09</a:t>
            </a:r>
          </a:p>
        </p:txBody>
      </p:sp>
      <p:sp>
        <p:nvSpPr>
          <p:cNvPr name="TextBox 11" id="11"/>
          <p:cNvSpPr txBox="true"/>
          <p:nvPr/>
        </p:nvSpPr>
        <p:spPr>
          <a:xfrm rot="0">
            <a:off x="2011680" y="3773805"/>
            <a:ext cx="5212080" cy="615315"/>
          </a:xfrm>
          <a:prstGeom prst="rect">
            <a:avLst/>
          </a:prstGeom>
        </p:spPr>
        <p:txBody>
          <a:bodyPr anchor="t" rtlCol="false" tIns="0" lIns="0" bIns="0" rIns="0">
            <a:spAutoFit/>
          </a:bodyPr>
          <a:lstStyle/>
          <a:p>
            <a:pPr algn="l">
              <a:lnSpc>
                <a:spcPts val="3115"/>
              </a:lnSpc>
            </a:pPr>
            <a:r>
              <a:rPr lang="en-US" sz="2199" b="true">
                <a:solidFill>
                  <a:srgbClr val="572525"/>
                </a:solidFill>
                <a:latin typeface="Poppins Bold"/>
                <a:ea typeface="Poppins Bold"/>
                <a:cs typeface="Poppins Bold"/>
                <a:sym typeface="Poppins Bold"/>
              </a:rPr>
              <a:t>A. GroupKFold berbasis pasien</a:t>
            </a:r>
          </a:p>
        </p:txBody>
      </p:sp>
      <p:grpSp>
        <p:nvGrpSpPr>
          <p:cNvPr name="Group 12" id="12"/>
          <p:cNvGrpSpPr/>
          <p:nvPr/>
        </p:nvGrpSpPr>
        <p:grpSpPr>
          <a:xfrm rot="0">
            <a:off x="2011680" y="4690034"/>
            <a:ext cx="5212080" cy="2552852"/>
            <a:chOff x="0" y="0"/>
            <a:chExt cx="6949440" cy="3403803"/>
          </a:xfrm>
        </p:grpSpPr>
        <p:sp>
          <p:nvSpPr>
            <p:cNvPr name="Freeform 13" id="13" descr="Output notebook asli"/>
            <p:cNvSpPr/>
            <p:nvPr/>
          </p:nvSpPr>
          <p:spPr>
            <a:xfrm flipH="false" flipV="false" rot="0">
              <a:off x="0" y="0"/>
              <a:ext cx="6949440" cy="3403854"/>
            </a:xfrm>
            <a:custGeom>
              <a:avLst/>
              <a:gdLst/>
              <a:ahLst/>
              <a:cxnLst/>
              <a:rect r="r" b="b" t="t" l="l"/>
              <a:pathLst>
                <a:path h="3403854" w="6949440">
                  <a:moveTo>
                    <a:pt x="0" y="0"/>
                  </a:moveTo>
                  <a:lnTo>
                    <a:pt x="6949440" y="0"/>
                  </a:lnTo>
                  <a:lnTo>
                    <a:pt x="6949440" y="3403854"/>
                  </a:lnTo>
                  <a:lnTo>
                    <a:pt x="0" y="3403854"/>
                  </a:lnTo>
                  <a:lnTo>
                    <a:pt x="0" y="0"/>
                  </a:lnTo>
                  <a:close/>
                </a:path>
              </a:pathLst>
            </a:custGeom>
            <a:blipFill>
              <a:blip r:embed="rId6"/>
              <a:stretch>
                <a:fillRect l="0" t="0" r="0" b="1"/>
              </a:stretch>
            </a:blipFill>
          </p:spPr>
        </p:sp>
      </p:grpSp>
      <p:sp>
        <p:nvSpPr>
          <p:cNvPr name="TextBox 14" id="14"/>
          <p:cNvSpPr txBox="true"/>
          <p:nvPr/>
        </p:nvSpPr>
        <p:spPr>
          <a:xfrm rot="0">
            <a:off x="7863840" y="3773805"/>
            <a:ext cx="8229600" cy="615315"/>
          </a:xfrm>
          <a:prstGeom prst="rect">
            <a:avLst/>
          </a:prstGeom>
        </p:spPr>
        <p:txBody>
          <a:bodyPr anchor="t" rtlCol="false" tIns="0" lIns="0" bIns="0" rIns="0">
            <a:spAutoFit/>
          </a:bodyPr>
          <a:lstStyle/>
          <a:p>
            <a:pPr algn="l">
              <a:lnSpc>
                <a:spcPts val="3115"/>
              </a:lnSpc>
            </a:pPr>
            <a:r>
              <a:rPr lang="en-US" sz="2199" b="true">
                <a:solidFill>
                  <a:srgbClr val="572525"/>
                </a:solidFill>
                <a:latin typeface="Poppins Bold"/>
                <a:ea typeface="Poppins Bold"/>
                <a:cs typeface="Poppins Bold"/>
                <a:sym typeface="Poppins Bold"/>
              </a:rPr>
              <a:t>B. Norm dan PCA fitur RETFound</a:t>
            </a:r>
          </a:p>
        </p:txBody>
      </p:sp>
      <p:grpSp>
        <p:nvGrpSpPr>
          <p:cNvPr name="Group 15" id="15"/>
          <p:cNvGrpSpPr/>
          <p:nvPr/>
        </p:nvGrpSpPr>
        <p:grpSpPr>
          <a:xfrm rot="0">
            <a:off x="7863840" y="4630798"/>
            <a:ext cx="8229600" cy="2671315"/>
            <a:chOff x="0" y="0"/>
            <a:chExt cx="10972800" cy="3561753"/>
          </a:xfrm>
        </p:grpSpPr>
        <p:sp>
          <p:nvSpPr>
            <p:cNvPr name="Freeform 16" id="16" descr="Output notebook asli"/>
            <p:cNvSpPr/>
            <p:nvPr/>
          </p:nvSpPr>
          <p:spPr>
            <a:xfrm flipH="false" flipV="false" rot="0">
              <a:off x="0" y="0"/>
              <a:ext cx="10972800" cy="3561715"/>
            </a:xfrm>
            <a:custGeom>
              <a:avLst/>
              <a:gdLst/>
              <a:ahLst/>
              <a:cxnLst/>
              <a:rect r="r" b="b" t="t" l="l"/>
              <a:pathLst>
                <a:path h="3561715" w="10972800">
                  <a:moveTo>
                    <a:pt x="0" y="0"/>
                  </a:moveTo>
                  <a:lnTo>
                    <a:pt x="10972800" y="0"/>
                  </a:lnTo>
                  <a:lnTo>
                    <a:pt x="10972800" y="3561715"/>
                  </a:lnTo>
                  <a:lnTo>
                    <a:pt x="0" y="3561715"/>
                  </a:lnTo>
                  <a:lnTo>
                    <a:pt x="0" y="0"/>
                  </a:lnTo>
                  <a:close/>
                </a:path>
              </a:pathLst>
            </a:custGeom>
            <a:blipFill>
              <a:blip r:embed="rId7"/>
              <a:stretch>
                <a:fillRect l="0" t="0" r="0" b="-1"/>
              </a:stretch>
            </a:blipFill>
          </p:spPr>
        </p:sp>
      </p:grpSp>
      <p:sp>
        <p:nvSpPr>
          <p:cNvPr name="TextBox 17" id="17"/>
          <p:cNvSpPr txBox="true"/>
          <p:nvPr/>
        </p:nvSpPr>
        <p:spPr>
          <a:xfrm rot="0">
            <a:off x="2011680" y="7705725"/>
            <a:ext cx="5212080" cy="1090803"/>
          </a:xfrm>
          <a:prstGeom prst="rect">
            <a:avLst/>
          </a:prstGeom>
        </p:spPr>
        <p:txBody>
          <a:bodyPr anchor="t" rtlCol="false" tIns="0" lIns="0" bIns="0" rIns="0">
            <a:spAutoFit/>
          </a:bodyPr>
          <a:lstStyle/>
          <a:p>
            <a:pPr algn="l">
              <a:lnSpc>
                <a:spcPts val="3115"/>
              </a:lnSpc>
            </a:pPr>
            <a:r>
              <a:rPr lang="en-US" sz="2199" b="true">
                <a:solidFill>
                  <a:srgbClr val="572525"/>
                </a:solidFill>
                <a:latin typeface="Poppins Semi-Bold"/>
                <a:ea typeface="Poppins Semi-Bold"/>
                <a:cs typeface="Poppins Semi-Bold"/>
                <a:sym typeface="Poppins Semi-Bold"/>
              </a:rPr>
              <a:t>A: menghitung pasien validasi, sebanyak 16–17 pasien per fold.</a:t>
            </a:r>
          </a:p>
        </p:txBody>
      </p:sp>
      <p:sp>
        <p:nvSpPr>
          <p:cNvPr name="TextBox 18" id="18"/>
          <p:cNvSpPr txBox="true"/>
          <p:nvPr/>
        </p:nvSpPr>
        <p:spPr>
          <a:xfrm rot="0">
            <a:off x="7863840" y="7705725"/>
            <a:ext cx="8229600" cy="1090803"/>
          </a:xfrm>
          <a:prstGeom prst="rect">
            <a:avLst/>
          </a:prstGeom>
        </p:spPr>
        <p:txBody>
          <a:bodyPr anchor="t" rtlCol="false" tIns="0" lIns="0" bIns="0" rIns="0">
            <a:spAutoFit/>
          </a:bodyPr>
          <a:lstStyle/>
          <a:p>
            <a:pPr algn="l">
              <a:lnSpc>
                <a:spcPts val="3115"/>
              </a:lnSpc>
            </a:pPr>
            <a:r>
              <a:rPr lang="en-US" sz="2199" b="true">
                <a:solidFill>
                  <a:srgbClr val="572525"/>
                </a:solidFill>
                <a:latin typeface="Poppins Semi-Bold"/>
                <a:ea typeface="Poppins Semi-Bold"/>
                <a:cs typeface="Poppins Semi-Bold"/>
                <a:sym typeface="Poppins Semi-Bold"/>
              </a:rPr>
              <a:t>B: mengekstrak matriks fitur 152 × 1.024. PCA hanya untuk eksplorasi, bukan masukan regresi atau ukuran akurasi.</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1713090" y="1431284"/>
            <a:ext cx="659244" cy="659244"/>
          </a:xfrm>
          <a:custGeom>
            <a:avLst/>
            <a:gdLst/>
            <a:ahLst/>
            <a:cxnLst/>
            <a:rect r="r" b="b" t="t" l="l"/>
            <a:pathLst>
              <a:path h="659244" w="659244">
                <a:moveTo>
                  <a:pt x="0" y="0"/>
                </a:moveTo>
                <a:lnTo>
                  <a:pt x="659245" y="0"/>
                </a:lnTo>
                <a:lnTo>
                  <a:pt x="659245" y="659244"/>
                </a:lnTo>
                <a:lnTo>
                  <a:pt x="0" y="6592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597706" y="1553204"/>
            <a:ext cx="5943600" cy="434473"/>
          </a:xfrm>
          <a:prstGeom prst="rect">
            <a:avLst/>
          </a:prstGeom>
        </p:spPr>
        <p:txBody>
          <a:bodyPr anchor="t" rtlCol="false" tIns="0" lIns="0" bIns="0" rIns="0">
            <a:spAutoFit/>
          </a:bodyPr>
          <a:lstStyle/>
          <a:p>
            <a:pPr algn="l">
              <a:lnSpc>
                <a:spcPts val="3231"/>
              </a:lnSpc>
            </a:pPr>
            <a:r>
              <a:rPr lang="en-US" sz="2991" b="true">
                <a:solidFill>
                  <a:srgbClr val="FFFFFF"/>
                </a:solidFill>
                <a:latin typeface="Poppins Bold"/>
                <a:ea typeface="Poppins Bold"/>
                <a:cs typeface="Poppins Bold"/>
                <a:sym typeface="Poppins Bold"/>
              </a:rPr>
              <a:t>ETS Machine Learning</a:t>
            </a:r>
          </a:p>
        </p:txBody>
      </p:sp>
      <p:grpSp>
        <p:nvGrpSpPr>
          <p:cNvPr name="Group 6" id="6"/>
          <p:cNvGrpSpPr/>
          <p:nvPr/>
        </p:nvGrpSpPr>
        <p:grpSpPr>
          <a:xfrm rot="0">
            <a:off x="1371600" y="2423160"/>
            <a:ext cx="15544800" cy="7178040"/>
            <a:chOff x="0" y="0"/>
            <a:chExt cx="20726400" cy="9570720"/>
          </a:xfrm>
        </p:grpSpPr>
        <p:sp>
          <p:nvSpPr>
            <p:cNvPr name="Freeform 7" id="7"/>
            <p:cNvSpPr/>
            <p:nvPr/>
          </p:nvSpPr>
          <p:spPr>
            <a:xfrm flipH="false" flipV="false" rot="0">
              <a:off x="0" y="0"/>
              <a:ext cx="20726400" cy="9570720"/>
            </a:xfrm>
            <a:custGeom>
              <a:avLst/>
              <a:gdLst/>
              <a:ahLst/>
              <a:cxnLst/>
              <a:rect r="r" b="b" t="t" l="l"/>
              <a:pathLst>
                <a:path h="9570720" w="20726400">
                  <a:moveTo>
                    <a:pt x="440817" y="0"/>
                  </a:moveTo>
                  <a:lnTo>
                    <a:pt x="20285583" y="0"/>
                  </a:lnTo>
                  <a:cubicBezTo>
                    <a:pt x="20402550" y="0"/>
                    <a:pt x="20514692" y="23241"/>
                    <a:pt x="20597369" y="64516"/>
                  </a:cubicBezTo>
                  <a:cubicBezTo>
                    <a:pt x="20680046" y="105791"/>
                    <a:pt x="20726400" y="161925"/>
                    <a:pt x="20726400" y="220345"/>
                  </a:cubicBezTo>
                  <a:lnTo>
                    <a:pt x="20726400" y="9350375"/>
                  </a:lnTo>
                  <a:cubicBezTo>
                    <a:pt x="20726400" y="9472041"/>
                    <a:pt x="20529042" y="9570720"/>
                    <a:pt x="20285583" y="9570720"/>
                  </a:cubicBezTo>
                  <a:lnTo>
                    <a:pt x="440817" y="9570720"/>
                  </a:lnTo>
                  <a:cubicBezTo>
                    <a:pt x="323850" y="9570720"/>
                    <a:pt x="211709" y="9547479"/>
                    <a:pt x="129159" y="9506204"/>
                  </a:cubicBezTo>
                  <a:cubicBezTo>
                    <a:pt x="46609" y="9464929"/>
                    <a:pt x="0" y="9408795"/>
                    <a:pt x="0" y="9350375"/>
                  </a:cubicBezTo>
                  <a:lnTo>
                    <a:pt x="0" y="220345"/>
                  </a:lnTo>
                  <a:cubicBezTo>
                    <a:pt x="0" y="98679"/>
                    <a:pt x="197358" y="0"/>
                    <a:pt x="440817" y="0"/>
                  </a:cubicBezTo>
                  <a:close/>
                </a:path>
              </a:pathLst>
            </a:custGeom>
            <a:solidFill>
              <a:srgbClr val="FFFFFF"/>
            </a:solidFill>
          </p:spPr>
        </p:sp>
      </p:grpSp>
      <p:sp>
        <p:nvSpPr>
          <p:cNvPr name="TextBox 8" id="8"/>
          <p:cNvSpPr txBox="true"/>
          <p:nvPr/>
        </p:nvSpPr>
        <p:spPr>
          <a:xfrm rot="0">
            <a:off x="10515600" y="1506093"/>
            <a:ext cx="5760720" cy="478155"/>
          </a:xfrm>
          <a:prstGeom prst="rect">
            <a:avLst/>
          </a:prstGeom>
        </p:spPr>
        <p:txBody>
          <a:bodyPr anchor="t" rtlCol="false" tIns="0" lIns="0" bIns="0" rIns="0">
            <a:spAutoFit/>
          </a:bodyPr>
          <a:lstStyle/>
          <a:p>
            <a:pPr algn="l">
              <a:lnSpc>
                <a:spcPts val="2832"/>
              </a:lnSpc>
            </a:pPr>
            <a:r>
              <a:rPr lang="en-US" sz="2000" b="true">
                <a:solidFill>
                  <a:srgbClr val="FFFFFF"/>
                </a:solidFill>
                <a:latin typeface="Poppins Bold"/>
                <a:ea typeface="Poppins Bold"/>
                <a:cs typeface="Poppins Bold"/>
                <a:sym typeface="Poppins Bold"/>
              </a:rPr>
              <a:t>03 HASIL</a:t>
            </a:r>
          </a:p>
        </p:txBody>
      </p:sp>
      <p:sp>
        <p:nvSpPr>
          <p:cNvPr name="TextBox 9" id="9"/>
          <p:cNvSpPr txBox="true"/>
          <p:nvPr/>
        </p:nvSpPr>
        <p:spPr>
          <a:xfrm rot="0">
            <a:off x="1874520" y="2637282"/>
            <a:ext cx="14538960" cy="1002030"/>
          </a:xfrm>
          <a:prstGeom prst="rect">
            <a:avLst/>
          </a:prstGeom>
        </p:spPr>
        <p:txBody>
          <a:bodyPr anchor="t" rtlCol="false" tIns="0" lIns="0" bIns="0" rIns="0">
            <a:spAutoFit/>
          </a:bodyPr>
          <a:lstStyle/>
          <a:p>
            <a:pPr algn="l">
              <a:lnSpc>
                <a:spcPts val="6513"/>
              </a:lnSpc>
            </a:pPr>
            <a:r>
              <a:rPr lang="en-US" sz="4599" b="true">
                <a:solidFill>
                  <a:srgbClr val="572525"/>
                </a:solidFill>
                <a:latin typeface="Poppins Bold"/>
                <a:ea typeface="Poppins Bold"/>
                <a:cs typeface="Poppins Bold"/>
                <a:sym typeface="Poppins Bold"/>
              </a:rPr>
              <a:t>Hasil pencarian hiperparameter</a:t>
            </a:r>
          </a:p>
        </p:txBody>
      </p:sp>
      <p:sp>
        <p:nvSpPr>
          <p:cNvPr name="TextBox 10" id="10"/>
          <p:cNvSpPr txBox="true"/>
          <p:nvPr/>
        </p:nvSpPr>
        <p:spPr>
          <a:xfrm rot="0">
            <a:off x="1901952" y="9078087"/>
            <a:ext cx="14447520" cy="303657"/>
          </a:xfrm>
          <a:prstGeom prst="rect">
            <a:avLst/>
          </a:prstGeom>
        </p:spPr>
        <p:txBody>
          <a:bodyPr anchor="t" rtlCol="false" tIns="0" lIns="0" bIns="0" rIns="0">
            <a:spAutoFit/>
          </a:bodyPr>
          <a:lstStyle/>
          <a:p>
            <a:pPr algn="l">
              <a:lnSpc>
                <a:spcPts val="1982"/>
              </a:lnSpc>
            </a:pPr>
            <a:r>
              <a:rPr lang="en-US" sz="1400" b="true">
                <a:solidFill>
                  <a:srgbClr val="572525"/>
                </a:solidFill>
                <a:latin typeface="Poppins Semi-Bold"/>
                <a:ea typeface="Poppins Semi-Bold"/>
                <a:cs typeface="Poppins Semi-Bold"/>
                <a:sym typeface="Poppins Semi-Bold"/>
              </a:rPr>
              <a:t>03 Hasil     10</a:t>
            </a:r>
          </a:p>
        </p:txBody>
      </p:sp>
      <p:sp>
        <p:nvSpPr>
          <p:cNvPr name="TextBox 11" id="11"/>
          <p:cNvSpPr txBox="true"/>
          <p:nvPr/>
        </p:nvSpPr>
        <p:spPr>
          <a:xfrm rot="0">
            <a:off x="2011680" y="3645789"/>
            <a:ext cx="14081760" cy="432435"/>
          </a:xfrm>
          <a:prstGeom prst="rect">
            <a:avLst/>
          </a:prstGeom>
        </p:spPr>
        <p:txBody>
          <a:bodyPr anchor="t" rtlCol="false" tIns="0" lIns="0" bIns="0" rIns="0">
            <a:spAutoFit/>
          </a:bodyPr>
          <a:lstStyle/>
          <a:p>
            <a:pPr algn="l">
              <a:lnSpc>
                <a:spcPts val="2832"/>
              </a:lnSpc>
            </a:pPr>
            <a:r>
              <a:rPr lang="en-US" sz="2000" b="true">
                <a:solidFill>
                  <a:srgbClr val="572525"/>
                </a:solidFill>
                <a:latin typeface="Poppins Semi-Bold"/>
                <a:ea typeface="Poppins Semi-Bold"/>
                <a:cs typeface="Poppins Semi-Bold"/>
                <a:sym typeface="Poppins Semi-Bold"/>
              </a:rPr>
              <a:t>Proses: memvisualisasikan MSE train dan validasi pada grid hiperparameter</a:t>
            </a:r>
          </a:p>
        </p:txBody>
      </p:sp>
      <p:grpSp>
        <p:nvGrpSpPr>
          <p:cNvPr name="Group 12" id="12"/>
          <p:cNvGrpSpPr/>
          <p:nvPr/>
        </p:nvGrpSpPr>
        <p:grpSpPr>
          <a:xfrm rot="0">
            <a:off x="1965960" y="4325093"/>
            <a:ext cx="14356080" cy="3273600"/>
            <a:chOff x="0" y="0"/>
            <a:chExt cx="19141440" cy="4364800"/>
          </a:xfrm>
        </p:grpSpPr>
        <p:sp>
          <p:nvSpPr>
            <p:cNvPr name="Freeform 13" id="13" descr="Output notebook asli"/>
            <p:cNvSpPr/>
            <p:nvPr/>
          </p:nvSpPr>
          <p:spPr>
            <a:xfrm flipH="false" flipV="false" rot="0">
              <a:off x="0" y="0"/>
              <a:ext cx="19141439" cy="4364736"/>
            </a:xfrm>
            <a:custGeom>
              <a:avLst/>
              <a:gdLst/>
              <a:ahLst/>
              <a:cxnLst/>
              <a:rect r="r" b="b" t="t" l="l"/>
              <a:pathLst>
                <a:path h="4364736" w="19141439">
                  <a:moveTo>
                    <a:pt x="0" y="0"/>
                  </a:moveTo>
                  <a:lnTo>
                    <a:pt x="19141439" y="0"/>
                  </a:lnTo>
                  <a:lnTo>
                    <a:pt x="19141439" y="4364736"/>
                  </a:lnTo>
                  <a:lnTo>
                    <a:pt x="0" y="4364736"/>
                  </a:lnTo>
                  <a:lnTo>
                    <a:pt x="0" y="0"/>
                  </a:lnTo>
                  <a:close/>
                </a:path>
              </a:pathLst>
            </a:custGeom>
            <a:blipFill>
              <a:blip r:embed="rId6"/>
              <a:stretch>
                <a:fillRect l="0" t="0" r="0" b="-1"/>
              </a:stretch>
            </a:blipFill>
          </p:spPr>
        </p:sp>
      </p:grpSp>
      <p:sp>
        <p:nvSpPr>
          <p:cNvPr name="TextBox 14" id="14"/>
          <p:cNvSpPr txBox="true"/>
          <p:nvPr/>
        </p:nvSpPr>
        <p:spPr>
          <a:xfrm rot="0">
            <a:off x="2011680" y="7842885"/>
            <a:ext cx="14081760" cy="1090803"/>
          </a:xfrm>
          <a:prstGeom prst="rect">
            <a:avLst/>
          </a:prstGeom>
        </p:spPr>
        <p:txBody>
          <a:bodyPr anchor="t" rtlCol="false" tIns="0" lIns="0" bIns="0" rIns="0">
            <a:spAutoFit/>
          </a:bodyPr>
          <a:lstStyle/>
          <a:p>
            <a:pPr algn="l">
              <a:lnSpc>
                <a:spcPts val="3115"/>
              </a:lnSpc>
            </a:pPr>
            <a:r>
              <a:rPr lang="en-US" sz="2199" b="true">
                <a:solidFill>
                  <a:srgbClr val="572525"/>
                </a:solidFill>
                <a:latin typeface="Poppins Semi-Bold"/>
                <a:ea typeface="Poppins Semi-Bold"/>
                <a:cs typeface="Poppins Semi-Bold"/>
                <a:sym typeface="Poppins Semi-Bold"/>
              </a:rPr>
              <a:t>Tuning memakai inner CV 3 fold dalam outer CV 5 fold. Panel Ridge pada gambar asli kosong. Lasso/ElasticNet memunculkan peringatan konvergensi.</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1713090" y="1431284"/>
            <a:ext cx="659244" cy="659244"/>
          </a:xfrm>
          <a:custGeom>
            <a:avLst/>
            <a:gdLst/>
            <a:ahLst/>
            <a:cxnLst/>
            <a:rect r="r" b="b" t="t" l="l"/>
            <a:pathLst>
              <a:path h="659244" w="659244">
                <a:moveTo>
                  <a:pt x="0" y="0"/>
                </a:moveTo>
                <a:lnTo>
                  <a:pt x="659245" y="0"/>
                </a:lnTo>
                <a:lnTo>
                  <a:pt x="659245" y="659244"/>
                </a:lnTo>
                <a:lnTo>
                  <a:pt x="0" y="6592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597706" y="1553204"/>
            <a:ext cx="5943600" cy="434473"/>
          </a:xfrm>
          <a:prstGeom prst="rect">
            <a:avLst/>
          </a:prstGeom>
        </p:spPr>
        <p:txBody>
          <a:bodyPr anchor="t" rtlCol="false" tIns="0" lIns="0" bIns="0" rIns="0">
            <a:spAutoFit/>
          </a:bodyPr>
          <a:lstStyle/>
          <a:p>
            <a:pPr algn="l">
              <a:lnSpc>
                <a:spcPts val="3231"/>
              </a:lnSpc>
            </a:pPr>
            <a:r>
              <a:rPr lang="en-US" sz="2991" b="true">
                <a:solidFill>
                  <a:srgbClr val="FFFFFF"/>
                </a:solidFill>
                <a:latin typeface="Poppins Bold"/>
                <a:ea typeface="Poppins Bold"/>
                <a:cs typeface="Poppins Bold"/>
                <a:sym typeface="Poppins Bold"/>
              </a:rPr>
              <a:t>ETS Machine Learning</a:t>
            </a:r>
          </a:p>
        </p:txBody>
      </p:sp>
      <p:grpSp>
        <p:nvGrpSpPr>
          <p:cNvPr name="Group 6" id="6"/>
          <p:cNvGrpSpPr/>
          <p:nvPr/>
        </p:nvGrpSpPr>
        <p:grpSpPr>
          <a:xfrm rot="0">
            <a:off x="1371600" y="2423160"/>
            <a:ext cx="15544800" cy="7178040"/>
            <a:chOff x="0" y="0"/>
            <a:chExt cx="20726400" cy="9570720"/>
          </a:xfrm>
        </p:grpSpPr>
        <p:sp>
          <p:nvSpPr>
            <p:cNvPr name="Freeform 7" id="7"/>
            <p:cNvSpPr/>
            <p:nvPr/>
          </p:nvSpPr>
          <p:spPr>
            <a:xfrm flipH="false" flipV="false" rot="0">
              <a:off x="0" y="0"/>
              <a:ext cx="20726400" cy="9570720"/>
            </a:xfrm>
            <a:custGeom>
              <a:avLst/>
              <a:gdLst/>
              <a:ahLst/>
              <a:cxnLst/>
              <a:rect r="r" b="b" t="t" l="l"/>
              <a:pathLst>
                <a:path h="9570720" w="20726400">
                  <a:moveTo>
                    <a:pt x="440817" y="0"/>
                  </a:moveTo>
                  <a:lnTo>
                    <a:pt x="20285583" y="0"/>
                  </a:lnTo>
                  <a:cubicBezTo>
                    <a:pt x="20402550" y="0"/>
                    <a:pt x="20514692" y="23241"/>
                    <a:pt x="20597369" y="64516"/>
                  </a:cubicBezTo>
                  <a:cubicBezTo>
                    <a:pt x="20680046" y="105791"/>
                    <a:pt x="20726400" y="161925"/>
                    <a:pt x="20726400" y="220345"/>
                  </a:cubicBezTo>
                  <a:lnTo>
                    <a:pt x="20726400" y="9350375"/>
                  </a:lnTo>
                  <a:cubicBezTo>
                    <a:pt x="20726400" y="9472041"/>
                    <a:pt x="20529042" y="9570720"/>
                    <a:pt x="20285583" y="9570720"/>
                  </a:cubicBezTo>
                  <a:lnTo>
                    <a:pt x="440817" y="9570720"/>
                  </a:lnTo>
                  <a:cubicBezTo>
                    <a:pt x="323850" y="9570720"/>
                    <a:pt x="211709" y="9547479"/>
                    <a:pt x="129159" y="9506204"/>
                  </a:cubicBezTo>
                  <a:cubicBezTo>
                    <a:pt x="46609" y="9464929"/>
                    <a:pt x="0" y="9408795"/>
                    <a:pt x="0" y="9350375"/>
                  </a:cubicBezTo>
                  <a:lnTo>
                    <a:pt x="0" y="220345"/>
                  </a:lnTo>
                  <a:cubicBezTo>
                    <a:pt x="0" y="98679"/>
                    <a:pt x="197358" y="0"/>
                    <a:pt x="440817" y="0"/>
                  </a:cubicBezTo>
                  <a:close/>
                </a:path>
              </a:pathLst>
            </a:custGeom>
            <a:solidFill>
              <a:srgbClr val="FFFFFF"/>
            </a:solidFill>
          </p:spPr>
        </p:sp>
      </p:grpSp>
      <p:sp>
        <p:nvSpPr>
          <p:cNvPr name="TextBox 8" id="8"/>
          <p:cNvSpPr txBox="true"/>
          <p:nvPr/>
        </p:nvSpPr>
        <p:spPr>
          <a:xfrm rot="0">
            <a:off x="10515600" y="1506093"/>
            <a:ext cx="5760720" cy="478155"/>
          </a:xfrm>
          <a:prstGeom prst="rect">
            <a:avLst/>
          </a:prstGeom>
        </p:spPr>
        <p:txBody>
          <a:bodyPr anchor="t" rtlCol="false" tIns="0" lIns="0" bIns="0" rIns="0">
            <a:spAutoFit/>
          </a:bodyPr>
          <a:lstStyle/>
          <a:p>
            <a:pPr algn="l">
              <a:lnSpc>
                <a:spcPts val="2832"/>
              </a:lnSpc>
            </a:pPr>
            <a:r>
              <a:rPr lang="en-US" sz="2000" b="true">
                <a:solidFill>
                  <a:srgbClr val="FFFFFF"/>
                </a:solidFill>
                <a:latin typeface="Poppins Bold"/>
                <a:ea typeface="Poppins Bold"/>
                <a:cs typeface="Poppins Bold"/>
                <a:sym typeface="Poppins Bold"/>
              </a:rPr>
              <a:t>03 HASIL</a:t>
            </a:r>
          </a:p>
        </p:txBody>
      </p:sp>
      <p:sp>
        <p:nvSpPr>
          <p:cNvPr name="TextBox 9" id="9"/>
          <p:cNvSpPr txBox="true"/>
          <p:nvPr/>
        </p:nvSpPr>
        <p:spPr>
          <a:xfrm rot="0">
            <a:off x="1874520" y="2637282"/>
            <a:ext cx="14538960" cy="1002030"/>
          </a:xfrm>
          <a:prstGeom prst="rect">
            <a:avLst/>
          </a:prstGeom>
        </p:spPr>
        <p:txBody>
          <a:bodyPr anchor="t" rtlCol="false" tIns="0" lIns="0" bIns="0" rIns="0">
            <a:spAutoFit/>
          </a:bodyPr>
          <a:lstStyle/>
          <a:p>
            <a:pPr algn="l">
              <a:lnSpc>
                <a:spcPts val="6513"/>
              </a:lnSpc>
            </a:pPr>
            <a:r>
              <a:rPr lang="en-US" sz="4599" b="true">
                <a:solidFill>
                  <a:srgbClr val="572525"/>
                </a:solidFill>
                <a:latin typeface="Poppins Bold"/>
                <a:ea typeface="Poppins Bold"/>
                <a:cs typeface="Poppins Bold"/>
                <a:sym typeface="Poppins Bold"/>
              </a:rPr>
              <a:t>Performa OOF keseluruhan dan per sektor</a:t>
            </a:r>
          </a:p>
        </p:txBody>
      </p:sp>
      <p:sp>
        <p:nvSpPr>
          <p:cNvPr name="TextBox 10" id="10"/>
          <p:cNvSpPr txBox="true"/>
          <p:nvPr/>
        </p:nvSpPr>
        <p:spPr>
          <a:xfrm rot="0">
            <a:off x="1901952" y="9078087"/>
            <a:ext cx="14447520" cy="303657"/>
          </a:xfrm>
          <a:prstGeom prst="rect">
            <a:avLst/>
          </a:prstGeom>
        </p:spPr>
        <p:txBody>
          <a:bodyPr anchor="t" rtlCol="false" tIns="0" lIns="0" bIns="0" rIns="0">
            <a:spAutoFit/>
          </a:bodyPr>
          <a:lstStyle/>
          <a:p>
            <a:pPr algn="l">
              <a:lnSpc>
                <a:spcPts val="1982"/>
              </a:lnSpc>
            </a:pPr>
            <a:r>
              <a:rPr lang="en-US" sz="1400" b="true">
                <a:solidFill>
                  <a:srgbClr val="572525"/>
                </a:solidFill>
                <a:latin typeface="Poppins Semi-Bold"/>
                <a:ea typeface="Poppins Semi-Bold"/>
                <a:cs typeface="Poppins Semi-Bold"/>
                <a:sym typeface="Poppins Semi-Bold"/>
              </a:rPr>
              <a:t>03 Hasil     11</a:t>
            </a:r>
          </a:p>
        </p:txBody>
      </p:sp>
      <p:sp>
        <p:nvSpPr>
          <p:cNvPr name="TextBox 11" id="11"/>
          <p:cNvSpPr txBox="true"/>
          <p:nvPr/>
        </p:nvSpPr>
        <p:spPr>
          <a:xfrm rot="0">
            <a:off x="2011680" y="3737610"/>
            <a:ext cx="6675120" cy="605790"/>
          </a:xfrm>
          <a:prstGeom prst="rect">
            <a:avLst/>
          </a:prstGeom>
        </p:spPr>
        <p:txBody>
          <a:bodyPr anchor="t" rtlCol="false" tIns="0" lIns="0" bIns="0" rIns="0">
            <a:spAutoFit/>
          </a:bodyPr>
          <a:lstStyle/>
          <a:p>
            <a:pPr algn="l">
              <a:lnSpc>
                <a:spcPts val="2973"/>
              </a:lnSpc>
            </a:pPr>
            <a:r>
              <a:rPr lang="en-US" sz="2100" b="true">
                <a:solidFill>
                  <a:srgbClr val="572525"/>
                </a:solidFill>
                <a:latin typeface="Poppins Bold"/>
                <a:ea typeface="Poppins Bold"/>
                <a:cs typeface="Poppins Bold"/>
                <a:sym typeface="Poppins Bold"/>
              </a:rPr>
              <a:t>A. Bandingkan MAE dan RMSE OOF</a:t>
            </a:r>
          </a:p>
        </p:txBody>
      </p:sp>
      <p:grpSp>
        <p:nvGrpSpPr>
          <p:cNvPr name="Group 12" id="12"/>
          <p:cNvGrpSpPr/>
          <p:nvPr/>
        </p:nvGrpSpPr>
        <p:grpSpPr>
          <a:xfrm rot="0">
            <a:off x="2413873" y="4297680"/>
            <a:ext cx="5962174" cy="1783080"/>
            <a:chOff x="0" y="0"/>
            <a:chExt cx="7949565" cy="2377440"/>
          </a:xfrm>
        </p:grpSpPr>
        <p:sp>
          <p:nvSpPr>
            <p:cNvPr name="Freeform 13" id="13" descr="Output notebook asli"/>
            <p:cNvSpPr/>
            <p:nvPr/>
          </p:nvSpPr>
          <p:spPr>
            <a:xfrm flipH="false" flipV="false" rot="0">
              <a:off x="0" y="0"/>
              <a:ext cx="7949565" cy="2377440"/>
            </a:xfrm>
            <a:custGeom>
              <a:avLst/>
              <a:gdLst/>
              <a:ahLst/>
              <a:cxnLst/>
              <a:rect r="r" b="b" t="t" l="l"/>
              <a:pathLst>
                <a:path h="2377440" w="7949565">
                  <a:moveTo>
                    <a:pt x="0" y="0"/>
                  </a:moveTo>
                  <a:lnTo>
                    <a:pt x="7949565" y="0"/>
                  </a:lnTo>
                  <a:lnTo>
                    <a:pt x="7949565" y="2377440"/>
                  </a:lnTo>
                  <a:lnTo>
                    <a:pt x="0" y="2377440"/>
                  </a:lnTo>
                  <a:lnTo>
                    <a:pt x="0" y="0"/>
                  </a:lnTo>
                  <a:close/>
                </a:path>
              </a:pathLst>
            </a:custGeom>
            <a:blipFill>
              <a:blip r:embed="rId6"/>
              <a:stretch>
                <a:fillRect l="0" t="0" r="0" b="0"/>
              </a:stretch>
            </a:blipFill>
          </p:spPr>
        </p:sp>
      </p:grpSp>
      <p:sp>
        <p:nvSpPr>
          <p:cNvPr name="TextBox 14" id="14"/>
          <p:cNvSpPr txBox="true"/>
          <p:nvPr/>
        </p:nvSpPr>
        <p:spPr>
          <a:xfrm rot="0">
            <a:off x="9784080" y="5191125"/>
            <a:ext cx="6492240" cy="1804035"/>
          </a:xfrm>
          <a:prstGeom prst="rect">
            <a:avLst/>
          </a:prstGeom>
        </p:spPr>
        <p:txBody>
          <a:bodyPr anchor="t" rtlCol="false" tIns="0" lIns="0" bIns="0" rIns="0">
            <a:spAutoFit/>
          </a:bodyPr>
          <a:lstStyle/>
          <a:p>
            <a:pPr algn="l">
              <a:lnSpc>
                <a:spcPts val="3681"/>
              </a:lnSpc>
            </a:pPr>
            <a:r>
              <a:rPr lang="en-US" sz="2600" b="true">
                <a:solidFill>
                  <a:srgbClr val="572525"/>
                </a:solidFill>
                <a:latin typeface="Poppins Bold"/>
                <a:ea typeface="Poppins Bold"/>
                <a:cs typeface="Poppins Bold"/>
                <a:sym typeface="Poppins Bold"/>
              </a:rPr>
              <a:t>Ridge: MAE 20,63 µm</a:t>
            </a:r>
          </a:p>
          <a:p>
            <a:pPr algn="l">
              <a:lnSpc>
                <a:spcPts val="3681"/>
              </a:lnSpc>
            </a:pPr>
            <a:r>
              <a:rPr lang="en-US" sz="2600" b="true">
                <a:solidFill>
                  <a:srgbClr val="572525"/>
                </a:solidFill>
                <a:latin typeface="Poppins Bold"/>
                <a:ea typeface="Poppins Bold"/>
                <a:cs typeface="Poppins Bold"/>
                <a:sym typeface="Poppins Bold"/>
              </a:rPr>
              <a:t>RMSE 27,38 µm, R² 0,592</a:t>
            </a:r>
          </a:p>
          <a:p>
            <a:pPr algn="l">
              <a:lnSpc>
                <a:spcPts val="3681"/>
              </a:lnSpc>
            </a:pPr>
            <a:r>
              <a:rPr lang="en-US" sz="2600" b="true">
                <a:solidFill>
                  <a:srgbClr val="572525"/>
                </a:solidFill>
                <a:latin typeface="Poppins Bold"/>
                <a:ea typeface="Poppins Bold"/>
                <a:cs typeface="Poppins Bold"/>
                <a:sym typeface="Poppins Bold"/>
              </a:rPr>
              <a:t>CI 95% MAE: 19,31–21,96 µm</a:t>
            </a:r>
          </a:p>
        </p:txBody>
      </p:sp>
      <p:sp>
        <p:nvSpPr>
          <p:cNvPr name="TextBox 15" id="15"/>
          <p:cNvSpPr txBox="true"/>
          <p:nvPr/>
        </p:nvSpPr>
        <p:spPr>
          <a:xfrm rot="0">
            <a:off x="2011680" y="6371082"/>
            <a:ext cx="13990320" cy="605790"/>
          </a:xfrm>
          <a:prstGeom prst="rect">
            <a:avLst/>
          </a:prstGeom>
        </p:spPr>
        <p:txBody>
          <a:bodyPr anchor="t" rtlCol="false" tIns="0" lIns="0" bIns="0" rIns="0">
            <a:spAutoFit/>
          </a:bodyPr>
          <a:lstStyle/>
          <a:p>
            <a:pPr algn="l">
              <a:lnSpc>
                <a:spcPts val="2973"/>
              </a:lnSpc>
            </a:pPr>
            <a:r>
              <a:rPr lang="en-US" sz="2100" b="true">
                <a:solidFill>
                  <a:srgbClr val="572525"/>
                </a:solidFill>
                <a:latin typeface="Poppins Bold"/>
                <a:ea typeface="Poppins Bold"/>
                <a:cs typeface="Poppins Bold"/>
                <a:sym typeface="Poppins Bold"/>
              </a:rPr>
              <a:t>B. Hitung MAE, RMSE, dan R² OOF pada 12 sektor</a:t>
            </a:r>
          </a:p>
        </p:txBody>
      </p:sp>
      <p:grpSp>
        <p:nvGrpSpPr>
          <p:cNvPr name="Group 16" id="16"/>
          <p:cNvGrpSpPr/>
          <p:nvPr/>
        </p:nvGrpSpPr>
        <p:grpSpPr>
          <a:xfrm rot="0">
            <a:off x="2309270" y="6861810"/>
            <a:ext cx="6066777" cy="1645920"/>
            <a:chOff x="0" y="0"/>
            <a:chExt cx="8089036" cy="2194560"/>
          </a:xfrm>
        </p:grpSpPr>
        <p:sp>
          <p:nvSpPr>
            <p:cNvPr name="Freeform 17" id="17" descr="Output notebook asli"/>
            <p:cNvSpPr/>
            <p:nvPr/>
          </p:nvSpPr>
          <p:spPr>
            <a:xfrm flipH="false" flipV="false" rot="0">
              <a:off x="0" y="0"/>
              <a:ext cx="8089011" cy="2194560"/>
            </a:xfrm>
            <a:custGeom>
              <a:avLst/>
              <a:gdLst/>
              <a:ahLst/>
              <a:cxnLst/>
              <a:rect r="r" b="b" t="t" l="l"/>
              <a:pathLst>
                <a:path h="2194560" w="8089011">
                  <a:moveTo>
                    <a:pt x="0" y="0"/>
                  </a:moveTo>
                  <a:lnTo>
                    <a:pt x="8089011" y="0"/>
                  </a:lnTo>
                  <a:lnTo>
                    <a:pt x="8089011" y="2194560"/>
                  </a:lnTo>
                  <a:lnTo>
                    <a:pt x="0" y="2194560"/>
                  </a:lnTo>
                  <a:lnTo>
                    <a:pt x="0" y="0"/>
                  </a:lnTo>
                  <a:close/>
                </a:path>
              </a:pathLst>
            </a:custGeom>
            <a:blipFill>
              <a:blip r:embed="rId7"/>
              <a:stretch>
                <a:fillRect l="0" t="0" r="0" b="0"/>
              </a:stretch>
            </a:blipFill>
          </p:spPr>
        </p:sp>
      </p:grpSp>
      <p:sp>
        <p:nvSpPr>
          <p:cNvPr name="TextBox 18" id="18"/>
          <p:cNvSpPr txBox="true"/>
          <p:nvPr/>
        </p:nvSpPr>
        <p:spPr>
          <a:xfrm rot="0">
            <a:off x="2011680" y="8556498"/>
            <a:ext cx="13990320" cy="422910"/>
          </a:xfrm>
          <a:prstGeom prst="rect">
            <a:avLst/>
          </a:prstGeom>
        </p:spPr>
        <p:txBody>
          <a:bodyPr anchor="t" rtlCol="false" tIns="0" lIns="0" bIns="0" rIns="0">
            <a:spAutoFit/>
          </a:bodyPr>
          <a:lstStyle/>
          <a:p>
            <a:pPr algn="l">
              <a:lnSpc>
                <a:spcPts val="2973"/>
              </a:lnSpc>
            </a:pPr>
            <a:r>
              <a:rPr lang="en-US" sz="2100" b="true">
                <a:solidFill>
                  <a:srgbClr val="572525"/>
                </a:solidFill>
                <a:latin typeface="Poppins Semi-Bold"/>
                <a:ea typeface="Poppins Semi-Bold"/>
                <a:cs typeface="Poppins Semi-Bold"/>
                <a:sym typeface="Poppins Semi-Bold"/>
              </a:rPr>
              <a:t>MAE Ridge: terendah jam 3 (12,71 µm), tertinggi jam 5 (29,61 µm).</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1713090" y="1431284"/>
            <a:ext cx="659244" cy="659244"/>
          </a:xfrm>
          <a:custGeom>
            <a:avLst/>
            <a:gdLst/>
            <a:ahLst/>
            <a:cxnLst/>
            <a:rect r="r" b="b" t="t" l="l"/>
            <a:pathLst>
              <a:path h="659244" w="659244">
                <a:moveTo>
                  <a:pt x="0" y="0"/>
                </a:moveTo>
                <a:lnTo>
                  <a:pt x="659245" y="0"/>
                </a:lnTo>
                <a:lnTo>
                  <a:pt x="659245" y="659244"/>
                </a:lnTo>
                <a:lnTo>
                  <a:pt x="0" y="6592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597706" y="1553204"/>
            <a:ext cx="5943600" cy="434473"/>
          </a:xfrm>
          <a:prstGeom prst="rect">
            <a:avLst/>
          </a:prstGeom>
        </p:spPr>
        <p:txBody>
          <a:bodyPr anchor="t" rtlCol="false" tIns="0" lIns="0" bIns="0" rIns="0">
            <a:spAutoFit/>
          </a:bodyPr>
          <a:lstStyle/>
          <a:p>
            <a:pPr algn="l">
              <a:lnSpc>
                <a:spcPts val="3231"/>
              </a:lnSpc>
            </a:pPr>
            <a:r>
              <a:rPr lang="en-US" sz="2991" b="true">
                <a:solidFill>
                  <a:srgbClr val="FFFFFF"/>
                </a:solidFill>
                <a:latin typeface="Poppins Bold"/>
                <a:ea typeface="Poppins Bold"/>
                <a:cs typeface="Poppins Bold"/>
                <a:sym typeface="Poppins Bold"/>
              </a:rPr>
              <a:t>ETS Machine Learning</a:t>
            </a:r>
          </a:p>
        </p:txBody>
      </p:sp>
      <p:grpSp>
        <p:nvGrpSpPr>
          <p:cNvPr name="Group 6" id="6"/>
          <p:cNvGrpSpPr/>
          <p:nvPr/>
        </p:nvGrpSpPr>
        <p:grpSpPr>
          <a:xfrm rot="0">
            <a:off x="1371600" y="2423160"/>
            <a:ext cx="15544800" cy="7178040"/>
            <a:chOff x="0" y="0"/>
            <a:chExt cx="20726400" cy="9570720"/>
          </a:xfrm>
        </p:grpSpPr>
        <p:sp>
          <p:nvSpPr>
            <p:cNvPr name="Freeform 7" id="7"/>
            <p:cNvSpPr/>
            <p:nvPr/>
          </p:nvSpPr>
          <p:spPr>
            <a:xfrm flipH="false" flipV="false" rot="0">
              <a:off x="0" y="0"/>
              <a:ext cx="20726400" cy="9570720"/>
            </a:xfrm>
            <a:custGeom>
              <a:avLst/>
              <a:gdLst/>
              <a:ahLst/>
              <a:cxnLst/>
              <a:rect r="r" b="b" t="t" l="l"/>
              <a:pathLst>
                <a:path h="9570720" w="20726400">
                  <a:moveTo>
                    <a:pt x="440817" y="0"/>
                  </a:moveTo>
                  <a:lnTo>
                    <a:pt x="20285583" y="0"/>
                  </a:lnTo>
                  <a:cubicBezTo>
                    <a:pt x="20402550" y="0"/>
                    <a:pt x="20514692" y="23241"/>
                    <a:pt x="20597369" y="64516"/>
                  </a:cubicBezTo>
                  <a:cubicBezTo>
                    <a:pt x="20680046" y="105791"/>
                    <a:pt x="20726400" y="161925"/>
                    <a:pt x="20726400" y="220345"/>
                  </a:cubicBezTo>
                  <a:lnTo>
                    <a:pt x="20726400" y="9350375"/>
                  </a:lnTo>
                  <a:cubicBezTo>
                    <a:pt x="20726400" y="9472041"/>
                    <a:pt x="20529042" y="9570720"/>
                    <a:pt x="20285583" y="9570720"/>
                  </a:cubicBezTo>
                  <a:lnTo>
                    <a:pt x="440817" y="9570720"/>
                  </a:lnTo>
                  <a:cubicBezTo>
                    <a:pt x="323850" y="9570720"/>
                    <a:pt x="211709" y="9547479"/>
                    <a:pt x="129159" y="9506204"/>
                  </a:cubicBezTo>
                  <a:cubicBezTo>
                    <a:pt x="46609" y="9464929"/>
                    <a:pt x="0" y="9408795"/>
                    <a:pt x="0" y="9350375"/>
                  </a:cubicBezTo>
                  <a:lnTo>
                    <a:pt x="0" y="220345"/>
                  </a:lnTo>
                  <a:cubicBezTo>
                    <a:pt x="0" y="98679"/>
                    <a:pt x="197358" y="0"/>
                    <a:pt x="440817" y="0"/>
                  </a:cubicBezTo>
                  <a:close/>
                </a:path>
              </a:pathLst>
            </a:custGeom>
            <a:solidFill>
              <a:srgbClr val="FFFFFF"/>
            </a:solidFill>
          </p:spPr>
        </p:sp>
      </p:grpSp>
      <p:sp>
        <p:nvSpPr>
          <p:cNvPr name="TextBox 8" id="8"/>
          <p:cNvSpPr txBox="true"/>
          <p:nvPr/>
        </p:nvSpPr>
        <p:spPr>
          <a:xfrm rot="0">
            <a:off x="10515600" y="1506093"/>
            <a:ext cx="5760720" cy="478155"/>
          </a:xfrm>
          <a:prstGeom prst="rect">
            <a:avLst/>
          </a:prstGeom>
        </p:spPr>
        <p:txBody>
          <a:bodyPr anchor="t" rtlCol="false" tIns="0" lIns="0" bIns="0" rIns="0">
            <a:spAutoFit/>
          </a:bodyPr>
          <a:lstStyle/>
          <a:p>
            <a:pPr algn="l">
              <a:lnSpc>
                <a:spcPts val="2832"/>
              </a:lnSpc>
            </a:pPr>
            <a:r>
              <a:rPr lang="en-US" sz="2000" b="true">
                <a:solidFill>
                  <a:srgbClr val="FFFFFF"/>
                </a:solidFill>
                <a:latin typeface="Poppins Bold"/>
                <a:ea typeface="Poppins Bold"/>
                <a:cs typeface="Poppins Bold"/>
                <a:sym typeface="Poppins Bold"/>
              </a:rPr>
              <a:t>03 HASIL</a:t>
            </a:r>
          </a:p>
        </p:txBody>
      </p:sp>
      <p:sp>
        <p:nvSpPr>
          <p:cNvPr name="TextBox 9" id="9"/>
          <p:cNvSpPr txBox="true"/>
          <p:nvPr/>
        </p:nvSpPr>
        <p:spPr>
          <a:xfrm rot="0">
            <a:off x="1874520" y="2637282"/>
            <a:ext cx="14538960" cy="1002030"/>
          </a:xfrm>
          <a:prstGeom prst="rect">
            <a:avLst/>
          </a:prstGeom>
        </p:spPr>
        <p:txBody>
          <a:bodyPr anchor="t" rtlCol="false" tIns="0" lIns="0" bIns="0" rIns="0">
            <a:spAutoFit/>
          </a:bodyPr>
          <a:lstStyle/>
          <a:p>
            <a:pPr algn="l">
              <a:lnSpc>
                <a:spcPts val="6513"/>
              </a:lnSpc>
            </a:pPr>
            <a:r>
              <a:rPr lang="en-US" sz="4599" b="true">
                <a:solidFill>
                  <a:srgbClr val="572525"/>
                </a:solidFill>
                <a:latin typeface="Poppins Bold"/>
                <a:ea typeface="Poppins Bold"/>
                <a:cs typeface="Poppins Bold"/>
                <a:sym typeface="Poppins Bold"/>
              </a:rPr>
              <a:t>Aktual, prediksi, dan residual Ridge</a:t>
            </a:r>
          </a:p>
        </p:txBody>
      </p:sp>
      <p:sp>
        <p:nvSpPr>
          <p:cNvPr name="TextBox 10" id="10"/>
          <p:cNvSpPr txBox="true"/>
          <p:nvPr/>
        </p:nvSpPr>
        <p:spPr>
          <a:xfrm rot="0">
            <a:off x="1901952" y="9078087"/>
            <a:ext cx="14447520" cy="303657"/>
          </a:xfrm>
          <a:prstGeom prst="rect">
            <a:avLst/>
          </a:prstGeom>
        </p:spPr>
        <p:txBody>
          <a:bodyPr anchor="t" rtlCol="false" tIns="0" lIns="0" bIns="0" rIns="0">
            <a:spAutoFit/>
          </a:bodyPr>
          <a:lstStyle/>
          <a:p>
            <a:pPr algn="l">
              <a:lnSpc>
                <a:spcPts val="1982"/>
              </a:lnSpc>
            </a:pPr>
            <a:r>
              <a:rPr lang="en-US" sz="1400" b="true">
                <a:solidFill>
                  <a:srgbClr val="572525"/>
                </a:solidFill>
                <a:latin typeface="Poppins Semi-Bold"/>
                <a:ea typeface="Poppins Semi-Bold"/>
                <a:cs typeface="Poppins Semi-Bold"/>
                <a:sym typeface="Poppins Semi-Bold"/>
              </a:rPr>
              <a:t>03 Hasil     12</a:t>
            </a:r>
          </a:p>
        </p:txBody>
      </p:sp>
      <p:sp>
        <p:nvSpPr>
          <p:cNvPr name="TextBox 11" id="11"/>
          <p:cNvSpPr txBox="true"/>
          <p:nvPr/>
        </p:nvSpPr>
        <p:spPr>
          <a:xfrm rot="0">
            <a:off x="2011680" y="3645789"/>
            <a:ext cx="14081760" cy="432435"/>
          </a:xfrm>
          <a:prstGeom prst="rect">
            <a:avLst/>
          </a:prstGeom>
        </p:spPr>
        <p:txBody>
          <a:bodyPr anchor="t" rtlCol="false" tIns="0" lIns="0" bIns="0" rIns="0">
            <a:spAutoFit/>
          </a:bodyPr>
          <a:lstStyle/>
          <a:p>
            <a:pPr algn="l">
              <a:lnSpc>
                <a:spcPts val="2832"/>
              </a:lnSpc>
            </a:pPr>
            <a:r>
              <a:rPr lang="en-US" sz="2000" b="true">
                <a:solidFill>
                  <a:srgbClr val="572525"/>
                </a:solidFill>
                <a:latin typeface="Poppins Semi-Bold"/>
                <a:ea typeface="Poppins Semi-Bold"/>
                <a:cs typeface="Poppins Semi-Bold"/>
                <a:sym typeface="Poppins Semi-Bold"/>
              </a:rPr>
              <a:t>Proses: membandingkan aktual dengan prediksi OOF serta menghitung prediksi dikurangi aktual</a:t>
            </a:r>
          </a:p>
        </p:txBody>
      </p:sp>
      <p:grpSp>
        <p:nvGrpSpPr>
          <p:cNvPr name="Group 12" id="12"/>
          <p:cNvGrpSpPr/>
          <p:nvPr/>
        </p:nvGrpSpPr>
        <p:grpSpPr>
          <a:xfrm rot="0">
            <a:off x="4437936" y="4187952"/>
            <a:ext cx="9412119" cy="3547872"/>
            <a:chOff x="0" y="0"/>
            <a:chExt cx="12549492" cy="4730496"/>
          </a:xfrm>
        </p:grpSpPr>
        <p:sp>
          <p:nvSpPr>
            <p:cNvPr name="Freeform 13" id="13" descr="Output notebook asli"/>
            <p:cNvSpPr/>
            <p:nvPr/>
          </p:nvSpPr>
          <p:spPr>
            <a:xfrm flipH="false" flipV="false" rot="0">
              <a:off x="0" y="0"/>
              <a:ext cx="12549505" cy="4730496"/>
            </a:xfrm>
            <a:custGeom>
              <a:avLst/>
              <a:gdLst/>
              <a:ahLst/>
              <a:cxnLst/>
              <a:rect r="r" b="b" t="t" l="l"/>
              <a:pathLst>
                <a:path h="4730496" w="12549505">
                  <a:moveTo>
                    <a:pt x="0" y="0"/>
                  </a:moveTo>
                  <a:lnTo>
                    <a:pt x="12549505" y="0"/>
                  </a:lnTo>
                  <a:lnTo>
                    <a:pt x="12549505" y="4730496"/>
                  </a:lnTo>
                  <a:lnTo>
                    <a:pt x="0" y="4730496"/>
                  </a:lnTo>
                  <a:lnTo>
                    <a:pt x="0" y="0"/>
                  </a:lnTo>
                  <a:close/>
                </a:path>
              </a:pathLst>
            </a:custGeom>
            <a:blipFill>
              <a:blip r:embed="rId6"/>
              <a:stretch>
                <a:fillRect l="0" t="0" r="0" b="0"/>
              </a:stretch>
            </a:blipFill>
          </p:spPr>
        </p:sp>
      </p:grpSp>
      <p:sp>
        <p:nvSpPr>
          <p:cNvPr name="TextBox 14" id="14"/>
          <p:cNvSpPr txBox="true"/>
          <p:nvPr/>
        </p:nvSpPr>
        <p:spPr>
          <a:xfrm rot="0">
            <a:off x="2011680" y="7842885"/>
            <a:ext cx="14081760" cy="1090803"/>
          </a:xfrm>
          <a:prstGeom prst="rect">
            <a:avLst/>
          </a:prstGeom>
        </p:spPr>
        <p:txBody>
          <a:bodyPr anchor="t" rtlCol="false" tIns="0" lIns="0" bIns="0" rIns="0">
            <a:spAutoFit/>
          </a:bodyPr>
          <a:lstStyle/>
          <a:p>
            <a:pPr algn="l">
              <a:lnSpc>
                <a:spcPts val="3115"/>
              </a:lnSpc>
            </a:pPr>
            <a:r>
              <a:rPr lang="en-US" sz="2199" b="true">
                <a:solidFill>
                  <a:srgbClr val="572525"/>
                </a:solidFill>
                <a:latin typeface="Poppins Semi-Bold"/>
                <a:ea typeface="Poppins Semi-Bold"/>
                <a:cs typeface="Poppins Semi-Bold"/>
                <a:sym typeface="Poppins Semi-Bold"/>
              </a:rPr>
              <a:t>Penyimpangan dari garis identitas menunjukkan galat. RNFL tinggi tampak cenderung diremehkan, sehingga evaluasi perlu melihat pola per sektor.</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1713090" y="1431284"/>
            <a:ext cx="659244" cy="659244"/>
          </a:xfrm>
          <a:custGeom>
            <a:avLst/>
            <a:gdLst/>
            <a:ahLst/>
            <a:cxnLst/>
            <a:rect r="r" b="b" t="t" l="l"/>
            <a:pathLst>
              <a:path h="659244" w="659244">
                <a:moveTo>
                  <a:pt x="0" y="0"/>
                </a:moveTo>
                <a:lnTo>
                  <a:pt x="659245" y="0"/>
                </a:lnTo>
                <a:lnTo>
                  <a:pt x="659245" y="659244"/>
                </a:lnTo>
                <a:lnTo>
                  <a:pt x="0" y="6592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597706" y="1553204"/>
            <a:ext cx="5943600" cy="434473"/>
          </a:xfrm>
          <a:prstGeom prst="rect">
            <a:avLst/>
          </a:prstGeom>
        </p:spPr>
        <p:txBody>
          <a:bodyPr anchor="t" rtlCol="false" tIns="0" lIns="0" bIns="0" rIns="0">
            <a:spAutoFit/>
          </a:bodyPr>
          <a:lstStyle/>
          <a:p>
            <a:pPr algn="l">
              <a:lnSpc>
                <a:spcPts val="3231"/>
              </a:lnSpc>
            </a:pPr>
            <a:r>
              <a:rPr lang="en-US" sz="2991" b="true">
                <a:solidFill>
                  <a:srgbClr val="FFFFFF"/>
                </a:solidFill>
                <a:latin typeface="Poppins Bold"/>
                <a:ea typeface="Poppins Bold"/>
                <a:cs typeface="Poppins Bold"/>
                <a:sym typeface="Poppins Bold"/>
              </a:rPr>
              <a:t>ETS Machine Learning</a:t>
            </a:r>
          </a:p>
        </p:txBody>
      </p:sp>
      <p:grpSp>
        <p:nvGrpSpPr>
          <p:cNvPr name="Group 6" id="6"/>
          <p:cNvGrpSpPr/>
          <p:nvPr/>
        </p:nvGrpSpPr>
        <p:grpSpPr>
          <a:xfrm rot="0">
            <a:off x="1371600" y="2423160"/>
            <a:ext cx="15544800" cy="7178040"/>
            <a:chOff x="0" y="0"/>
            <a:chExt cx="20726400" cy="9570720"/>
          </a:xfrm>
        </p:grpSpPr>
        <p:sp>
          <p:nvSpPr>
            <p:cNvPr name="Freeform 7" id="7"/>
            <p:cNvSpPr/>
            <p:nvPr/>
          </p:nvSpPr>
          <p:spPr>
            <a:xfrm flipH="false" flipV="false" rot="0">
              <a:off x="0" y="0"/>
              <a:ext cx="20726400" cy="9570720"/>
            </a:xfrm>
            <a:custGeom>
              <a:avLst/>
              <a:gdLst/>
              <a:ahLst/>
              <a:cxnLst/>
              <a:rect r="r" b="b" t="t" l="l"/>
              <a:pathLst>
                <a:path h="9570720" w="20726400">
                  <a:moveTo>
                    <a:pt x="440817" y="0"/>
                  </a:moveTo>
                  <a:lnTo>
                    <a:pt x="20285583" y="0"/>
                  </a:lnTo>
                  <a:cubicBezTo>
                    <a:pt x="20402550" y="0"/>
                    <a:pt x="20514692" y="23241"/>
                    <a:pt x="20597369" y="64516"/>
                  </a:cubicBezTo>
                  <a:cubicBezTo>
                    <a:pt x="20680046" y="105791"/>
                    <a:pt x="20726400" y="161925"/>
                    <a:pt x="20726400" y="220345"/>
                  </a:cubicBezTo>
                  <a:lnTo>
                    <a:pt x="20726400" y="9350375"/>
                  </a:lnTo>
                  <a:cubicBezTo>
                    <a:pt x="20726400" y="9472041"/>
                    <a:pt x="20529042" y="9570720"/>
                    <a:pt x="20285583" y="9570720"/>
                  </a:cubicBezTo>
                  <a:lnTo>
                    <a:pt x="440817" y="9570720"/>
                  </a:lnTo>
                  <a:cubicBezTo>
                    <a:pt x="323850" y="9570720"/>
                    <a:pt x="211709" y="9547479"/>
                    <a:pt x="129159" y="9506204"/>
                  </a:cubicBezTo>
                  <a:cubicBezTo>
                    <a:pt x="46609" y="9464929"/>
                    <a:pt x="0" y="9408795"/>
                    <a:pt x="0" y="9350375"/>
                  </a:cubicBezTo>
                  <a:lnTo>
                    <a:pt x="0" y="220345"/>
                  </a:lnTo>
                  <a:cubicBezTo>
                    <a:pt x="0" y="98679"/>
                    <a:pt x="197358" y="0"/>
                    <a:pt x="440817" y="0"/>
                  </a:cubicBezTo>
                  <a:close/>
                </a:path>
              </a:pathLst>
            </a:custGeom>
            <a:solidFill>
              <a:srgbClr val="FFFFFF"/>
            </a:solidFill>
          </p:spPr>
        </p:sp>
      </p:grpSp>
      <p:sp>
        <p:nvSpPr>
          <p:cNvPr name="TextBox 8" id="8"/>
          <p:cNvSpPr txBox="true"/>
          <p:nvPr/>
        </p:nvSpPr>
        <p:spPr>
          <a:xfrm rot="0">
            <a:off x="10515600" y="1506093"/>
            <a:ext cx="5760720" cy="478155"/>
          </a:xfrm>
          <a:prstGeom prst="rect">
            <a:avLst/>
          </a:prstGeom>
        </p:spPr>
        <p:txBody>
          <a:bodyPr anchor="t" rtlCol="false" tIns="0" lIns="0" bIns="0" rIns="0">
            <a:spAutoFit/>
          </a:bodyPr>
          <a:lstStyle/>
          <a:p>
            <a:pPr algn="l">
              <a:lnSpc>
                <a:spcPts val="2832"/>
              </a:lnSpc>
            </a:pPr>
            <a:r>
              <a:rPr lang="en-US" sz="2000" b="true">
                <a:solidFill>
                  <a:srgbClr val="FFFFFF"/>
                </a:solidFill>
                <a:latin typeface="Poppins Bold"/>
                <a:ea typeface="Poppins Bold"/>
                <a:cs typeface="Poppins Bold"/>
                <a:sym typeface="Poppins Bold"/>
              </a:rPr>
              <a:t>03 HASIL</a:t>
            </a:r>
          </a:p>
        </p:txBody>
      </p:sp>
      <p:sp>
        <p:nvSpPr>
          <p:cNvPr name="TextBox 9" id="9"/>
          <p:cNvSpPr txBox="true"/>
          <p:nvPr/>
        </p:nvSpPr>
        <p:spPr>
          <a:xfrm rot="0">
            <a:off x="1874520" y="2637282"/>
            <a:ext cx="14538960" cy="1002030"/>
          </a:xfrm>
          <a:prstGeom prst="rect">
            <a:avLst/>
          </a:prstGeom>
        </p:spPr>
        <p:txBody>
          <a:bodyPr anchor="t" rtlCol="false" tIns="0" lIns="0" bIns="0" rIns="0">
            <a:spAutoFit/>
          </a:bodyPr>
          <a:lstStyle/>
          <a:p>
            <a:pPr algn="l">
              <a:lnSpc>
                <a:spcPts val="6513"/>
              </a:lnSpc>
            </a:pPr>
            <a:r>
              <a:rPr lang="en-US" sz="4599" b="true">
                <a:solidFill>
                  <a:srgbClr val="572525"/>
                </a:solidFill>
                <a:latin typeface="Poppins Bold"/>
                <a:ea typeface="Poppins Bold"/>
                <a:cs typeface="Poppins Bold"/>
                <a:sym typeface="Poppins Bold"/>
              </a:rPr>
              <a:t>Ensemble, augmentasi, dan bandit UCB1</a:t>
            </a:r>
          </a:p>
        </p:txBody>
      </p:sp>
      <p:sp>
        <p:nvSpPr>
          <p:cNvPr name="TextBox 10" id="10"/>
          <p:cNvSpPr txBox="true"/>
          <p:nvPr/>
        </p:nvSpPr>
        <p:spPr>
          <a:xfrm rot="0">
            <a:off x="1901952" y="9078087"/>
            <a:ext cx="14447520" cy="303657"/>
          </a:xfrm>
          <a:prstGeom prst="rect">
            <a:avLst/>
          </a:prstGeom>
        </p:spPr>
        <p:txBody>
          <a:bodyPr anchor="t" rtlCol="false" tIns="0" lIns="0" bIns="0" rIns="0">
            <a:spAutoFit/>
          </a:bodyPr>
          <a:lstStyle/>
          <a:p>
            <a:pPr algn="l">
              <a:lnSpc>
                <a:spcPts val="1982"/>
              </a:lnSpc>
            </a:pPr>
            <a:r>
              <a:rPr lang="en-US" sz="1400" b="true">
                <a:solidFill>
                  <a:srgbClr val="572525"/>
                </a:solidFill>
                <a:latin typeface="Poppins Semi-Bold"/>
                <a:ea typeface="Poppins Semi-Bold"/>
                <a:cs typeface="Poppins Semi-Bold"/>
                <a:sym typeface="Poppins Semi-Bold"/>
              </a:rPr>
              <a:t>03 Hasil     13</a:t>
            </a:r>
          </a:p>
        </p:txBody>
      </p:sp>
      <p:sp>
        <p:nvSpPr>
          <p:cNvPr name="TextBox 11" id="11"/>
          <p:cNvSpPr txBox="true"/>
          <p:nvPr/>
        </p:nvSpPr>
        <p:spPr>
          <a:xfrm rot="0">
            <a:off x="2011680" y="3755898"/>
            <a:ext cx="6766560" cy="605790"/>
          </a:xfrm>
          <a:prstGeom prst="rect">
            <a:avLst/>
          </a:prstGeom>
        </p:spPr>
        <p:txBody>
          <a:bodyPr anchor="t" rtlCol="false" tIns="0" lIns="0" bIns="0" rIns="0">
            <a:spAutoFit/>
          </a:bodyPr>
          <a:lstStyle/>
          <a:p>
            <a:pPr algn="l">
              <a:lnSpc>
                <a:spcPts val="2973"/>
              </a:lnSpc>
            </a:pPr>
            <a:r>
              <a:rPr lang="en-US" sz="2100" b="true">
                <a:solidFill>
                  <a:srgbClr val="572525"/>
                </a:solidFill>
                <a:latin typeface="Poppins Bold"/>
                <a:ea typeface="Poppins Bold"/>
                <a:cs typeface="Poppins Bold"/>
                <a:sym typeface="Poppins Bold"/>
              </a:rPr>
              <a:t>A. Rerata Ridge–ExtraTrees dan augmentasi</a:t>
            </a:r>
          </a:p>
        </p:txBody>
      </p:sp>
      <p:grpSp>
        <p:nvGrpSpPr>
          <p:cNvPr name="Group 12" id="12"/>
          <p:cNvGrpSpPr/>
          <p:nvPr/>
        </p:nvGrpSpPr>
        <p:grpSpPr>
          <a:xfrm rot="0">
            <a:off x="2601392" y="4526280"/>
            <a:ext cx="5587127" cy="2468880"/>
            <a:chOff x="0" y="0"/>
            <a:chExt cx="7449503" cy="3291840"/>
          </a:xfrm>
        </p:grpSpPr>
        <p:sp>
          <p:nvSpPr>
            <p:cNvPr name="Freeform 13" id="13" descr="Output notebook asli"/>
            <p:cNvSpPr/>
            <p:nvPr/>
          </p:nvSpPr>
          <p:spPr>
            <a:xfrm flipH="false" flipV="false" rot="0">
              <a:off x="0" y="0"/>
              <a:ext cx="7449439" cy="3291840"/>
            </a:xfrm>
            <a:custGeom>
              <a:avLst/>
              <a:gdLst/>
              <a:ahLst/>
              <a:cxnLst/>
              <a:rect r="r" b="b" t="t" l="l"/>
              <a:pathLst>
                <a:path h="3291840" w="7449439">
                  <a:moveTo>
                    <a:pt x="0" y="0"/>
                  </a:moveTo>
                  <a:lnTo>
                    <a:pt x="7449439" y="0"/>
                  </a:lnTo>
                  <a:lnTo>
                    <a:pt x="7449439" y="3291840"/>
                  </a:lnTo>
                  <a:lnTo>
                    <a:pt x="0" y="3291840"/>
                  </a:lnTo>
                  <a:lnTo>
                    <a:pt x="0" y="0"/>
                  </a:lnTo>
                  <a:close/>
                </a:path>
              </a:pathLst>
            </a:custGeom>
            <a:blipFill>
              <a:blip r:embed="rId6"/>
              <a:stretch>
                <a:fillRect l="0" t="0" r="0" b="0"/>
              </a:stretch>
            </a:blipFill>
          </p:spPr>
        </p:sp>
      </p:grpSp>
      <p:sp>
        <p:nvSpPr>
          <p:cNvPr name="TextBox 14" id="14"/>
          <p:cNvSpPr txBox="true"/>
          <p:nvPr/>
        </p:nvSpPr>
        <p:spPr>
          <a:xfrm rot="0">
            <a:off x="2011680" y="7248525"/>
            <a:ext cx="6766560" cy="1177900"/>
          </a:xfrm>
          <a:prstGeom prst="rect">
            <a:avLst/>
          </a:prstGeom>
        </p:spPr>
        <p:txBody>
          <a:bodyPr anchor="t" rtlCol="false" tIns="0" lIns="0" bIns="0" rIns="0">
            <a:spAutoFit/>
          </a:bodyPr>
          <a:lstStyle/>
          <a:p>
            <a:pPr algn="l">
              <a:lnSpc>
                <a:spcPts val="3115"/>
              </a:lnSpc>
            </a:pPr>
            <a:r>
              <a:rPr lang="en-US" sz="2199" b="true">
                <a:solidFill>
                  <a:srgbClr val="572525"/>
                </a:solidFill>
                <a:latin typeface="Poppins Semi-Bold"/>
                <a:ea typeface="Poppins Semi-Bold"/>
                <a:cs typeface="Poppins Semi-Bold"/>
                <a:sym typeface="Poppins Semi-Bold"/>
              </a:rPr>
              <a:t>MAE ensemble + augmentasi 20,53 µm. CI 95% perbaikan terhadap Ridge −0,232 hingga 0,398 µm masih mencakup nol.</a:t>
            </a:r>
          </a:p>
        </p:txBody>
      </p:sp>
      <p:sp>
        <p:nvSpPr>
          <p:cNvPr name="TextBox 15" id="15"/>
          <p:cNvSpPr txBox="true"/>
          <p:nvPr/>
        </p:nvSpPr>
        <p:spPr>
          <a:xfrm rot="0">
            <a:off x="9235440" y="3755898"/>
            <a:ext cx="6858000" cy="605790"/>
          </a:xfrm>
          <a:prstGeom prst="rect">
            <a:avLst/>
          </a:prstGeom>
        </p:spPr>
        <p:txBody>
          <a:bodyPr anchor="t" rtlCol="false" tIns="0" lIns="0" bIns="0" rIns="0">
            <a:spAutoFit/>
          </a:bodyPr>
          <a:lstStyle/>
          <a:p>
            <a:pPr algn="l">
              <a:lnSpc>
                <a:spcPts val="2973"/>
              </a:lnSpc>
            </a:pPr>
            <a:r>
              <a:rPr lang="en-US" sz="2100" b="true">
                <a:solidFill>
                  <a:srgbClr val="572525"/>
                </a:solidFill>
                <a:latin typeface="Poppins Bold"/>
                <a:ea typeface="Poppins Bold"/>
                <a:cs typeface="Poppins Bold"/>
                <a:sym typeface="Poppins Bold"/>
              </a:rPr>
              <a:t>B. Simulasi penambahan pasien berlabel</a:t>
            </a:r>
          </a:p>
        </p:txBody>
      </p:sp>
      <p:grpSp>
        <p:nvGrpSpPr>
          <p:cNvPr name="Group 16" id="16"/>
          <p:cNvGrpSpPr/>
          <p:nvPr/>
        </p:nvGrpSpPr>
        <p:grpSpPr>
          <a:xfrm rot="0">
            <a:off x="9235440" y="4735220"/>
            <a:ext cx="6858000" cy="2050990"/>
            <a:chOff x="0" y="0"/>
            <a:chExt cx="9144000" cy="2734653"/>
          </a:xfrm>
        </p:grpSpPr>
        <p:sp>
          <p:nvSpPr>
            <p:cNvPr name="Freeform 17" id="17" descr="Output notebook asli"/>
            <p:cNvSpPr/>
            <p:nvPr/>
          </p:nvSpPr>
          <p:spPr>
            <a:xfrm flipH="false" flipV="false" rot="0">
              <a:off x="0" y="0"/>
              <a:ext cx="9144000" cy="2734691"/>
            </a:xfrm>
            <a:custGeom>
              <a:avLst/>
              <a:gdLst/>
              <a:ahLst/>
              <a:cxnLst/>
              <a:rect r="r" b="b" t="t" l="l"/>
              <a:pathLst>
                <a:path h="2734691" w="9144000">
                  <a:moveTo>
                    <a:pt x="0" y="0"/>
                  </a:moveTo>
                  <a:lnTo>
                    <a:pt x="9144000" y="0"/>
                  </a:lnTo>
                  <a:lnTo>
                    <a:pt x="9144000" y="2734691"/>
                  </a:lnTo>
                  <a:lnTo>
                    <a:pt x="0" y="2734691"/>
                  </a:lnTo>
                  <a:lnTo>
                    <a:pt x="0" y="0"/>
                  </a:lnTo>
                  <a:close/>
                </a:path>
              </a:pathLst>
            </a:custGeom>
            <a:blipFill>
              <a:blip r:embed="rId7"/>
              <a:stretch>
                <a:fillRect l="0" t="0" r="0" b="1"/>
              </a:stretch>
            </a:blipFill>
          </p:spPr>
        </p:sp>
      </p:grpSp>
      <p:sp>
        <p:nvSpPr>
          <p:cNvPr name="TextBox 18" id="18"/>
          <p:cNvSpPr txBox="true"/>
          <p:nvPr/>
        </p:nvSpPr>
        <p:spPr>
          <a:xfrm rot="0">
            <a:off x="9235440" y="7248525"/>
            <a:ext cx="6858000" cy="1529715"/>
          </a:xfrm>
          <a:prstGeom prst="rect">
            <a:avLst/>
          </a:prstGeom>
        </p:spPr>
        <p:txBody>
          <a:bodyPr anchor="t" rtlCol="false" tIns="0" lIns="0" bIns="0" rIns="0">
            <a:spAutoFit/>
          </a:bodyPr>
          <a:lstStyle/>
          <a:p>
            <a:pPr algn="l">
              <a:lnSpc>
                <a:spcPts val="3115"/>
              </a:lnSpc>
            </a:pPr>
            <a:r>
              <a:rPr lang="en-US" sz="2199" b="true">
                <a:solidFill>
                  <a:srgbClr val="572525"/>
                </a:solidFill>
                <a:latin typeface="Poppins Semi-Bold"/>
                <a:ea typeface="Poppins Semi-Bold"/>
                <a:cs typeface="Poppins Semi-Bold"/>
                <a:sym typeface="Poppins Semi-Bold"/>
              </a:rPr>
              <a:t>Lima putaran: UCB1 MAE 24,10 µm dan random 23,95 µm. UCB1 belum konsisten lebih baik pada jumlah label yang sama.</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1713090" y="1431284"/>
            <a:ext cx="659244" cy="659244"/>
          </a:xfrm>
          <a:custGeom>
            <a:avLst/>
            <a:gdLst/>
            <a:ahLst/>
            <a:cxnLst/>
            <a:rect r="r" b="b" t="t" l="l"/>
            <a:pathLst>
              <a:path h="659244" w="659244">
                <a:moveTo>
                  <a:pt x="0" y="0"/>
                </a:moveTo>
                <a:lnTo>
                  <a:pt x="659245" y="0"/>
                </a:lnTo>
                <a:lnTo>
                  <a:pt x="659245" y="659244"/>
                </a:lnTo>
                <a:lnTo>
                  <a:pt x="0" y="6592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371600" y="2423160"/>
            <a:ext cx="15544800" cy="7178040"/>
            <a:chOff x="0" y="0"/>
            <a:chExt cx="20726400" cy="9570720"/>
          </a:xfrm>
        </p:grpSpPr>
        <p:sp>
          <p:nvSpPr>
            <p:cNvPr name="Freeform 6" id="6"/>
            <p:cNvSpPr/>
            <p:nvPr/>
          </p:nvSpPr>
          <p:spPr>
            <a:xfrm flipH="false" flipV="false" rot="0">
              <a:off x="0" y="0"/>
              <a:ext cx="20726400" cy="9570720"/>
            </a:xfrm>
            <a:custGeom>
              <a:avLst/>
              <a:gdLst/>
              <a:ahLst/>
              <a:cxnLst/>
              <a:rect r="r" b="b" t="t" l="l"/>
              <a:pathLst>
                <a:path h="9570720" w="20726400">
                  <a:moveTo>
                    <a:pt x="440817" y="0"/>
                  </a:moveTo>
                  <a:lnTo>
                    <a:pt x="20285583" y="0"/>
                  </a:lnTo>
                  <a:cubicBezTo>
                    <a:pt x="20402550" y="0"/>
                    <a:pt x="20514692" y="23241"/>
                    <a:pt x="20597369" y="64516"/>
                  </a:cubicBezTo>
                  <a:cubicBezTo>
                    <a:pt x="20680046" y="105791"/>
                    <a:pt x="20726400" y="161925"/>
                    <a:pt x="20726400" y="220345"/>
                  </a:cubicBezTo>
                  <a:lnTo>
                    <a:pt x="20726400" y="9350375"/>
                  </a:lnTo>
                  <a:cubicBezTo>
                    <a:pt x="20726400" y="9472041"/>
                    <a:pt x="20529042" y="9570720"/>
                    <a:pt x="20285583" y="9570720"/>
                  </a:cubicBezTo>
                  <a:lnTo>
                    <a:pt x="440817" y="9570720"/>
                  </a:lnTo>
                  <a:cubicBezTo>
                    <a:pt x="323850" y="9570720"/>
                    <a:pt x="211709" y="9547479"/>
                    <a:pt x="129159" y="9506204"/>
                  </a:cubicBezTo>
                  <a:cubicBezTo>
                    <a:pt x="46609" y="9464929"/>
                    <a:pt x="0" y="9408795"/>
                    <a:pt x="0" y="9350375"/>
                  </a:cubicBezTo>
                  <a:lnTo>
                    <a:pt x="0" y="220345"/>
                  </a:lnTo>
                  <a:cubicBezTo>
                    <a:pt x="0" y="98679"/>
                    <a:pt x="197358" y="0"/>
                    <a:pt x="440817" y="0"/>
                  </a:cubicBezTo>
                  <a:close/>
                </a:path>
              </a:pathLst>
            </a:custGeom>
            <a:solidFill>
              <a:srgbClr val="FFFFFF"/>
            </a:solidFill>
          </p:spPr>
        </p:sp>
      </p:grpSp>
      <p:graphicFrame>
        <p:nvGraphicFramePr>
          <p:cNvPr name="Table 7" id="7"/>
          <p:cNvGraphicFramePr>
            <a:graphicFrameLocks noGrp="true"/>
          </p:cNvGraphicFramePr>
          <p:nvPr/>
        </p:nvGraphicFramePr>
        <p:xfrm>
          <a:off x="1901952" y="4464368"/>
          <a:ext cx="14186279" cy="4086225"/>
        </p:xfrm>
        <a:graphic>
          <a:graphicData uri="http://schemas.openxmlformats.org/drawingml/2006/table">
            <a:tbl>
              <a:tblPr/>
              <a:tblGrid>
                <a:gridCol w="3365031"/>
                <a:gridCol w="4245887"/>
                <a:gridCol w="3435007"/>
                <a:gridCol w="3140355"/>
              </a:tblGrid>
              <a:tr h="817245">
                <a:tc>
                  <a:txBody>
                    <a:bodyPr anchor="t" rtlCol="false"/>
                    <a:lstStyle/>
                    <a:p>
                      <a:pPr algn="ctr">
                        <a:lnSpc>
                          <a:spcPts val="2240"/>
                        </a:lnSpc>
                        <a:defRPr/>
                      </a:pPr>
                      <a:r>
                        <a:rPr lang="en-US" b="true" sz="1600">
                          <a:solidFill>
                            <a:srgbClr val="000000"/>
                          </a:solidFill>
                          <a:latin typeface="Poppins Bold"/>
                          <a:ea typeface="Poppins Bold"/>
                          <a:cs typeface="Poppins Bold"/>
                          <a:sym typeface="Poppins Bold"/>
                        </a:rPr>
                        <a:t>Estimate MAE(µm)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5EFE9"/>
                    </a:solidFill>
                  </a:tcPr>
                </a:tc>
                <a:tc>
                  <a:txBody>
                    <a:bodyPr anchor="t" rtlCol="false"/>
                    <a:lstStyle/>
                    <a:p>
                      <a:pPr algn="ctr">
                        <a:lnSpc>
                          <a:spcPts val="2240"/>
                        </a:lnSpc>
                        <a:defRPr/>
                      </a:pPr>
                      <a:r>
                        <a:rPr lang="en-US" sz="1600" b="true">
                          <a:solidFill>
                            <a:srgbClr val="000000"/>
                          </a:solidFill>
                          <a:latin typeface="Poppins Bold"/>
                          <a:ea typeface="Poppins Bold"/>
                          <a:cs typeface="Poppins Bold"/>
                          <a:sym typeface="Poppins Bold"/>
                        </a:rPr>
                        <a:t>Estimate RMSE</a:t>
                      </a:r>
                      <a:r>
                        <a:rPr lang="en-US" b="true" sz="1600">
                          <a:solidFill>
                            <a:srgbClr val="000000"/>
                          </a:solidFill>
                          <a:latin typeface="Poppins Bold"/>
                          <a:ea typeface="Poppins Bold"/>
                          <a:cs typeface="Poppins Bold"/>
                          <a:sym typeface="Poppins Bold"/>
                        </a:rPr>
                        <a:t>(µm)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5EFE9"/>
                    </a:solidFill>
                  </a:tcPr>
                </a:tc>
                <a:tc>
                  <a:txBody>
                    <a:bodyPr anchor="t" rtlCol="false"/>
                    <a:lstStyle/>
                    <a:p>
                      <a:pPr algn="ctr">
                        <a:lnSpc>
                          <a:spcPts val="2240"/>
                        </a:lnSpc>
                        <a:defRPr/>
                      </a:pPr>
                      <a:r>
                        <a:rPr lang="en-US" sz="1600" b="true">
                          <a:solidFill>
                            <a:srgbClr val="000000"/>
                          </a:solidFill>
                          <a:latin typeface="Poppins Bold"/>
                          <a:ea typeface="Poppins Bold"/>
                          <a:cs typeface="Poppins Bold"/>
                          <a:sym typeface="Poppins Bold"/>
                        </a:rPr>
                        <a:t>Estimate R²</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5EFE9"/>
                    </a:solidFill>
                  </a:tcPr>
                </a:tc>
                <a:tc>
                  <a:txBody>
                    <a:bodyPr anchor="t" rtlCol="false"/>
                    <a:lstStyle/>
                    <a:p>
                      <a:pPr algn="ctr">
                        <a:lnSpc>
                          <a:spcPts val="2240"/>
                        </a:lnSpc>
                        <a:defRPr/>
                      </a:pPr>
                      <a:r>
                        <a:rPr lang="en-US" b="true" sz="1600">
                          <a:solidFill>
                            <a:srgbClr val="000000"/>
                          </a:solidFill>
                          <a:latin typeface="Poppins Bold"/>
                          <a:ea typeface="Poppins Bold"/>
                          <a:cs typeface="Poppins Bold"/>
                          <a:sym typeface="Poppins Bold"/>
                        </a:rPr>
                        <a:t>Model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5EFE9"/>
                    </a:solidFill>
                  </a:tcPr>
                </a:tc>
              </a:tr>
              <a:tr h="817245">
                <a:tc>
                  <a:txBody>
                    <a:bodyPr anchor="t" rtlCol="false"/>
                    <a:lstStyle/>
                    <a:p>
                      <a:pPr algn="ctr">
                        <a:lnSpc>
                          <a:spcPts val="2240"/>
                        </a:lnSpc>
                        <a:defRPr/>
                      </a:pPr>
                      <a:r>
                        <a:rPr lang="en-US" sz="1600">
                          <a:solidFill>
                            <a:srgbClr val="000000"/>
                          </a:solidFill>
                          <a:latin typeface="Poppins"/>
                          <a:ea typeface="Poppins"/>
                          <a:cs typeface="Poppins"/>
                          <a:sym typeface="Poppins"/>
                        </a:rPr>
                        <a:t>20.628771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AF5E9"/>
                    </a:solidFill>
                  </a:tcPr>
                </a:tc>
                <a:tc>
                  <a:txBody>
                    <a:bodyPr anchor="t" rtlCol="false"/>
                    <a:lstStyle/>
                    <a:p>
                      <a:pPr algn="ctr">
                        <a:lnSpc>
                          <a:spcPts val="2240"/>
                        </a:lnSpc>
                        <a:defRPr/>
                      </a:pPr>
                      <a:r>
                        <a:rPr lang="en-US" sz="1600">
                          <a:solidFill>
                            <a:srgbClr val="000000"/>
                          </a:solidFill>
                          <a:latin typeface="Poppins"/>
                          <a:ea typeface="Poppins"/>
                          <a:cs typeface="Poppins"/>
                          <a:sym typeface="Poppins"/>
                        </a:rPr>
                        <a:t>27.380614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AF5E9"/>
                    </a:solidFill>
                  </a:tcPr>
                </a:tc>
                <a:tc>
                  <a:txBody>
                    <a:bodyPr anchor="t" rtlCol="false"/>
                    <a:lstStyle/>
                    <a:p>
                      <a:pPr algn="ctr">
                        <a:lnSpc>
                          <a:spcPts val="2240"/>
                        </a:lnSpc>
                        <a:defRPr/>
                      </a:pPr>
                      <a:r>
                        <a:rPr lang="en-US" sz="1600">
                          <a:solidFill>
                            <a:srgbClr val="000000"/>
                          </a:solidFill>
                          <a:latin typeface="Poppins"/>
                          <a:ea typeface="Poppins"/>
                          <a:cs typeface="Poppins"/>
                          <a:sym typeface="Poppins"/>
                        </a:rPr>
                        <a:t>0.591709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AF5E9"/>
                    </a:solidFill>
                  </a:tcPr>
                </a:tc>
                <a:tc>
                  <a:txBody>
                    <a:bodyPr anchor="t" rtlCol="false"/>
                    <a:lstStyle/>
                    <a:p>
                      <a:pPr algn="ctr">
                        <a:lnSpc>
                          <a:spcPts val="2240"/>
                        </a:lnSpc>
                        <a:defRPr/>
                      </a:pPr>
                      <a:r>
                        <a:rPr lang="en-US" sz="1600">
                          <a:solidFill>
                            <a:srgbClr val="000000"/>
                          </a:solidFill>
                          <a:latin typeface="Poppins"/>
                          <a:ea typeface="Poppins"/>
                          <a:cs typeface="Poppins"/>
                          <a:sym typeface="Poppins"/>
                        </a:rPr>
                        <a:t>Ridge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17245">
                <a:tc>
                  <a:txBody>
                    <a:bodyPr anchor="t" rtlCol="false"/>
                    <a:lstStyle/>
                    <a:p>
                      <a:pPr algn="ctr">
                        <a:lnSpc>
                          <a:spcPts val="2240"/>
                        </a:lnSpc>
                        <a:defRPr/>
                      </a:pPr>
                      <a:r>
                        <a:rPr lang="en-US" sz="1600">
                          <a:solidFill>
                            <a:srgbClr val="000000"/>
                          </a:solidFill>
                          <a:latin typeface="Poppins"/>
                          <a:ea typeface="Poppins"/>
                          <a:cs typeface="Poppins"/>
                          <a:sym typeface="Poppins"/>
                        </a:rPr>
                        <a:t>24.684590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r>
                        <a:rPr lang="en-US" sz="1600">
                          <a:solidFill>
                            <a:srgbClr val="000000"/>
                          </a:solidFill>
                          <a:latin typeface="Poppins"/>
                          <a:ea typeface="Poppins"/>
                          <a:cs typeface="Poppins"/>
                          <a:sym typeface="Poppins"/>
                        </a:rPr>
                        <a:t>32.644848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r>
                        <a:rPr lang="en-US" sz="1600">
                          <a:solidFill>
                            <a:srgbClr val="000000"/>
                          </a:solidFill>
                          <a:latin typeface="Poppins"/>
                          <a:ea typeface="Poppins"/>
                          <a:cs typeface="Poppins"/>
                          <a:sym typeface="Poppins"/>
                        </a:rPr>
                        <a:t>0.419619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r>
                        <a:rPr lang="en-US" sz="1600">
                          <a:solidFill>
                            <a:srgbClr val="000000"/>
                          </a:solidFill>
                          <a:latin typeface="Poppins"/>
                          <a:ea typeface="Poppins"/>
                          <a:cs typeface="Poppins"/>
                          <a:sym typeface="Poppins"/>
                        </a:rPr>
                        <a:t>O</a:t>
                      </a:r>
                      <a:r>
                        <a:rPr lang="en-US" sz="1600">
                          <a:solidFill>
                            <a:srgbClr val="000000"/>
                          </a:solidFill>
                          <a:latin typeface="Poppins"/>
                          <a:ea typeface="Poppins"/>
                          <a:cs typeface="Poppins"/>
                          <a:sym typeface="Poppins"/>
                        </a:rPr>
                        <a:t>LS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17245">
                <a:tc>
                  <a:txBody>
                    <a:bodyPr anchor="t" rtlCol="false"/>
                    <a:lstStyle/>
                    <a:p>
                      <a:pPr algn="ctr">
                        <a:lnSpc>
                          <a:spcPts val="2240"/>
                        </a:lnSpc>
                        <a:defRPr/>
                      </a:pPr>
                      <a:r>
                        <a:rPr lang="en-US" sz="1600">
                          <a:solidFill>
                            <a:srgbClr val="000000"/>
                          </a:solidFill>
                          <a:latin typeface="Poppins"/>
                          <a:ea typeface="Poppins"/>
                          <a:cs typeface="Poppins"/>
                          <a:sym typeface="Poppins"/>
                        </a:rPr>
                        <a:t>22.053619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r>
                        <a:rPr lang="en-US" sz="1600">
                          <a:solidFill>
                            <a:srgbClr val="000000"/>
                          </a:solidFill>
                          <a:latin typeface="Poppins"/>
                          <a:ea typeface="Poppins"/>
                          <a:cs typeface="Poppins"/>
                          <a:sym typeface="Poppins"/>
                        </a:rPr>
                        <a:t>29.234386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r>
                        <a:rPr lang="en-US" sz="1600">
                          <a:solidFill>
                            <a:srgbClr val="000000"/>
                          </a:solidFill>
                          <a:latin typeface="Poppins"/>
                          <a:ea typeface="Poppins"/>
                          <a:cs typeface="Poppins"/>
                          <a:sym typeface="Poppins"/>
                        </a:rPr>
                        <a:t>0.534551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r>
                        <a:rPr lang="en-US" sz="1600">
                          <a:solidFill>
                            <a:srgbClr val="000000"/>
                          </a:solidFill>
                          <a:latin typeface="Poppins"/>
                          <a:ea typeface="Poppins"/>
                          <a:cs typeface="Poppins"/>
                          <a:sym typeface="Poppins"/>
                        </a:rPr>
                        <a:t>L</a:t>
                      </a:r>
                      <a:r>
                        <a:rPr lang="en-US" sz="1600">
                          <a:solidFill>
                            <a:srgbClr val="000000"/>
                          </a:solidFill>
                          <a:latin typeface="Poppins"/>
                          <a:ea typeface="Poppins"/>
                          <a:cs typeface="Poppins"/>
                          <a:sym typeface="Poppins"/>
                        </a:rPr>
                        <a:t>asso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17245">
                <a:tc>
                  <a:txBody>
                    <a:bodyPr anchor="t" rtlCol="false"/>
                    <a:lstStyle/>
                    <a:p>
                      <a:pPr algn="ctr">
                        <a:lnSpc>
                          <a:spcPts val="2240"/>
                        </a:lnSpc>
                        <a:defRPr/>
                      </a:pPr>
                      <a:r>
                        <a:rPr lang="en-US" sz="1600">
                          <a:solidFill>
                            <a:srgbClr val="000000"/>
                          </a:solidFill>
                          <a:latin typeface="Poppins"/>
                          <a:ea typeface="Poppins"/>
                          <a:cs typeface="Poppins"/>
                          <a:sym typeface="Poppins"/>
                        </a:rPr>
                        <a:t>21.464231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r>
                        <a:rPr lang="en-US" sz="1600">
                          <a:solidFill>
                            <a:srgbClr val="000000"/>
                          </a:solidFill>
                          <a:latin typeface="Poppins"/>
                          <a:ea typeface="Poppins"/>
                          <a:cs typeface="Poppins"/>
                          <a:sym typeface="Poppins"/>
                        </a:rPr>
                        <a:t>28.436489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r>
                        <a:rPr lang="en-US" sz="1600">
                          <a:solidFill>
                            <a:srgbClr val="000000"/>
                          </a:solidFill>
                          <a:latin typeface="Poppins"/>
                          <a:ea typeface="Poppins"/>
                          <a:cs typeface="Poppins"/>
                          <a:sym typeface="Poppins"/>
                        </a:rPr>
                        <a:t>0.559612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240"/>
                        </a:lnSpc>
                        <a:defRPr/>
                      </a:pPr>
                      <a:r>
                        <a:rPr lang="en-US" sz="1600">
                          <a:solidFill>
                            <a:srgbClr val="000000"/>
                          </a:solidFill>
                          <a:latin typeface="Poppins"/>
                          <a:ea typeface="Poppins"/>
                          <a:cs typeface="Poppins"/>
                          <a:sym typeface="Poppins"/>
                        </a:rPr>
                        <a:t>E</a:t>
                      </a:r>
                      <a:r>
                        <a:rPr lang="en-US" sz="1600">
                          <a:solidFill>
                            <a:srgbClr val="000000"/>
                          </a:solidFill>
                          <a:latin typeface="Poppins"/>
                          <a:ea typeface="Poppins"/>
                          <a:cs typeface="Poppins"/>
                          <a:sym typeface="Poppins"/>
                        </a:rPr>
                        <a:t>lasticNet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8" id="8"/>
          <p:cNvSpPr txBox="true"/>
          <p:nvPr/>
        </p:nvSpPr>
        <p:spPr>
          <a:xfrm rot="0">
            <a:off x="2597706" y="1553204"/>
            <a:ext cx="5943600" cy="434473"/>
          </a:xfrm>
          <a:prstGeom prst="rect">
            <a:avLst/>
          </a:prstGeom>
        </p:spPr>
        <p:txBody>
          <a:bodyPr anchor="t" rtlCol="false" tIns="0" lIns="0" bIns="0" rIns="0">
            <a:spAutoFit/>
          </a:bodyPr>
          <a:lstStyle/>
          <a:p>
            <a:pPr algn="l">
              <a:lnSpc>
                <a:spcPts val="3231"/>
              </a:lnSpc>
            </a:pPr>
            <a:r>
              <a:rPr lang="en-US" sz="2991" b="true">
                <a:solidFill>
                  <a:srgbClr val="FFFFFF"/>
                </a:solidFill>
                <a:latin typeface="Poppins Bold"/>
                <a:ea typeface="Poppins Bold"/>
                <a:cs typeface="Poppins Bold"/>
                <a:sym typeface="Poppins Bold"/>
              </a:rPr>
              <a:t>ETS Machine Learning</a:t>
            </a:r>
          </a:p>
        </p:txBody>
      </p:sp>
      <p:sp>
        <p:nvSpPr>
          <p:cNvPr name="TextBox 9" id="9"/>
          <p:cNvSpPr txBox="true"/>
          <p:nvPr/>
        </p:nvSpPr>
        <p:spPr>
          <a:xfrm rot="0">
            <a:off x="10515600" y="1506093"/>
            <a:ext cx="5760720" cy="478155"/>
          </a:xfrm>
          <a:prstGeom prst="rect">
            <a:avLst/>
          </a:prstGeom>
        </p:spPr>
        <p:txBody>
          <a:bodyPr anchor="t" rtlCol="false" tIns="0" lIns="0" bIns="0" rIns="0">
            <a:spAutoFit/>
          </a:bodyPr>
          <a:lstStyle/>
          <a:p>
            <a:pPr algn="l">
              <a:lnSpc>
                <a:spcPts val="2832"/>
              </a:lnSpc>
            </a:pPr>
            <a:r>
              <a:rPr lang="en-US" sz="2000" b="true">
                <a:solidFill>
                  <a:srgbClr val="FFFFFF"/>
                </a:solidFill>
                <a:latin typeface="Poppins Bold"/>
                <a:ea typeface="Poppins Bold"/>
                <a:cs typeface="Poppins Bold"/>
                <a:sym typeface="Poppins Bold"/>
              </a:rPr>
              <a:t>04 PEMBAHASAN</a:t>
            </a:r>
          </a:p>
        </p:txBody>
      </p:sp>
      <p:sp>
        <p:nvSpPr>
          <p:cNvPr name="TextBox 10" id="10"/>
          <p:cNvSpPr txBox="true"/>
          <p:nvPr/>
        </p:nvSpPr>
        <p:spPr>
          <a:xfrm rot="0">
            <a:off x="1874520" y="2637282"/>
            <a:ext cx="14538960" cy="1002030"/>
          </a:xfrm>
          <a:prstGeom prst="rect">
            <a:avLst/>
          </a:prstGeom>
        </p:spPr>
        <p:txBody>
          <a:bodyPr anchor="t" rtlCol="false" tIns="0" lIns="0" bIns="0" rIns="0">
            <a:spAutoFit/>
          </a:bodyPr>
          <a:lstStyle/>
          <a:p>
            <a:pPr algn="l">
              <a:lnSpc>
                <a:spcPts val="6513"/>
              </a:lnSpc>
            </a:pPr>
            <a:r>
              <a:rPr lang="en-US" sz="4599" b="true">
                <a:solidFill>
                  <a:srgbClr val="572525"/>
                </a:solidFill>
                <a:latin typeface="Poppins Bold"/>
                <a:ea typeface="Poppins Bold"/>
                <a:cs typeface="Poppins Bold"/>
                <a:sym typeface="Poppins Bold"/>
              </a:rPr>
              <a:t>4. Pembahasan dan keterbatasan</a:t>
            </a:r>
          </a:p>
        </p:txBody>
      </p:sp>
      <p:sp>
        <p:nvSpPr>
          <p:cNvPr name="TextBox 11" id="11"/>
          <p:cNvSpPr txBox="true"/>
          <p:nvPr/>
        </p:nvSpPr>
        <p:spPr>
          <a:xfrm rot="0">
            <a:off x="1901952" y="9078087"/>
            <a:ext cx="14447520" cy="303657"/>
          </a:xfrm>
          <a:prstGeom prst="rect">
            <a:avLst/>
          </a:prstGeom>
        </p:spPr>
        <p:txBody>
          <a:bodyPr anchor="t" rtlCol="false" tIns="0" lIns="0" bIns="0" rIns="0">
            <a:spAutoFit/>
          </a:bodyPr>
          <a:lstStyle/>
          <a:p>
            <a:pPr algn="l">
              <a:lnSpc>
                <a:spcPts val="1982"/>
              </a:lnSpc>
            </a:pPr>
            <a:r>
              <a:rPr lang="en-US" sz="1400" b="true">
                <a:solidFill>
                  <a:srgbClr val="572525"/>
                </a:solidFill>
                <a:latin typeface="Poppins Semi-Bold"/>
                <a:ea typeface="Poppins Semi-Bold"/>
                <a:cs typeface="Poppins Semi-Bold"/>
                <a:sym typeface="Poppins Semi-Bold"/>
              </a:rPr>
              <a:t>04 Pembahasan     14</a:t>
            </a:r>
          </a:p>
        </p:txBody>
      </p:sp>
      <p:sp>
        <p:nvSpPr>
          <p:cNvPr name="TextBox 12" id="12"/>
          <p:cNvSpPr txBox="true"/>
          <p:nvPr/>
        </p:nvSpPr>
        <p:spPr>
          <a:xfrm rot="0">
            <a:off x="1874520" y="3568295"/>
            <a:ext cx="13898880" cy="504215"/>
          </a:xfrm>
          <a:prstGeom prst="rect">
            <a:avLst/>
          </a:prstGeom>
        </p:spPr>
        <p:txBody>
          <a:bodyPr anchor="t" rtlCol="false" tIns="0" lIns="0" bIns="0" rIns="0">
            <a:spAutoFit/>
          </a:bodyPr>
          <a:lstStyle/>
          <a:p>
            <a:pPr algn="l">
              <a:lnSpc>
                <a:spcPts val="3964"/>
              </a:lnSpc>
            </a:pPr>
            <a:r>
              <a:rPr lang="en-US" sz="2799" b="true">
                <a:solidFill>
                  <a:srgbClr val="572525"/>
                </a:solidFill>
                <a:latin typeface="Poppins Semi-Bold"/>
                <a:ea typeface="Poppins Semi-Bold"/>
                <a:cs typeface="Poppins Semi-Bold"/>
                <a:sym typeface="Poppins Semi-Bold"/>
              </a:rPr>
              <a:t> secara lebih rinci hasil evaluasi berupa berikut:</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1713090" y="1431284"/>
            <a:ext cx="659244" cy="659244"/>
          </a:xfrm>
          <a:custGeom>
            <a:avLst/>
            <a:gdLst/>
            <a:ahLst/>
            <a:cxnLst/>
            <a:rect r="r" b="b" t="t" l="l"/>
            <a:pathLst>
              <a:path h="659244" w="659244">
                <a:moveTo>
                  <a:pt x="0" y="0"/>
                </a:moveTo>
                <a:lnTo>
                  <a:pt x="659245" y="0"/>
                </a:lnTo>
                <a:lnTo>
                  <a:pt x="659245" y="659244"/>
                </a:lnTo>
                <a:lnTo>
                  <a:pt x="0" y="6592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597706" y="1553204"/>
            <a:ext cx="5943600" cy="434473"/>
          </a:xfrm>
          <a:prstGeom prst="rect">
            <a:avLst/>
          </a:prstGeom>
        </p:spPr>
        <p:txBody>
          <a:bodyPr anchor="t" rtlCol="false" tIns="0" lIns="0" bIns="0" rIns="0">
            <a:spAutoFit/>
          </a:bodyPr>
          <a:lstStyle/>
          <a:p>
            <a:pPr algn="l">
              <a:lnSpc>
                <a:spcPts val="3231"/>
              </a:lnSpc>
            </a:pPr>
            <a:r>
              <a:rPr lang="en-US" sz="2991" b="true">
                <a:solidFill>
                  <a:srgbClr val="FFFFFF"/>
                </a:solidFill>
                <a:latin typeface="Poppins Bold"/>
                <a:ea typeface="Poppins Bold"/>
                <a:cs typeface="Poppins Bold"/>
                <a:sym typeface="Poppins Bold"/>
              </a:rPr>
              <a:t>ETS Machine Learning</a:t>
            </a:r>
          </a:p>
        </p:txBody>
      </p:sp>
      <p:grpSp>
        <p:nvGrpSpPr>
          <p:cNvPr name="Group 6" id="6"/>
          <p:cNvGrpSpPr/>
          <p:nvPr/>
        </p:nvGrpSpPr>
        <p:grpSpPr>
          <a:xfrm rot="0">
            <a:off x="1371600" y="2423160"/>
            <a:ext cx="15544800" cy="7178040"/>
            <a:chOff x="0" y="0"/>
            <a:chExt cx="20726400" cy="9570720"/>
          </a:xfrm>
        </p:grpSpPr>
        <p:sp>
          <p:nvSpPr>
            <p:cNvPr name="Freeform 7" id="7"/>
            <p:cNvSpPr/>
            <p:nvPr/>
          </p:nvSpPr>
          <p:spPr>
            <a:xfrm flipH="false" flipV="false" rot="0">
              <a:off x="0" y="0"/>
              <a:ext cx="20726400" cy="9570720"/>
            </a:xfrm>
            <a:custGeom>
              <a:avLst/>
              <a:gdLst/>
              <a:ahLst/>
              <a:cxnLst/>
              <a:rect r="r" b="b" t="t" l="l"/>
              <a:pathLst>
                <a:path h="9570720" w="20726400">
                  <a:moveTo>
                    <a:pt x="440817" y="0"/>
                  </a:moveTo>
                  <a:lnTo>
                    <a:pt x="20285583" y="0"/>
                  </a:lnTo>
                  <a:cubicBezTo>
                    <a:pt x="20402550" y="0"/>
                    <a:pt x="20514692" y="23241"/>
                    <a:pt x="20597369" y="64516"/>
                  </a:cubicBezTo>
                  <a:cubicBezTo>
                    <a:pt x="20680046" y="105791"/>
                    <a:pt x="20726400" y="161925"/>
                    <a:pt x="20726400" y="220345"/>
                  </a:cubicBezTo>
                  <a:lnTo>
                    <a:pt x="20726400" y="9350375"/>
                  </a:lnTo>
                  <a:cubicBezTo>
                    <a:pt x="20726400" y="9472041"/>
                    <a:pt x="20529042" y="9570720"/>
                    <a:pt x="20285583" y="9570720"/>
                  </a:cubicBezTo>
                  <a:lnTo>
                    <a:pt x="440817" y="9570720"/>
                  </a:lnTo>
                  <a:cubicBezTo>
                    <a:pt x="323850" y="9570720"/>
                    <a:pt x="211709" y="9547479"/>
                    <a:pt x="129159" y="9506204"/>
                  </a:cubicBezTo>
                  <a:cubicBezTo>
                    <a:pt x="46609" y="9464929"/>
                    <a:pt x="0" y="9408795"/>
                    <a:pt x="0" y="9350375"/>
                  </a:cubicBezTo>
                  <a:lnTo>
                    <a:pt x="0" y="220345"/>
                  </a:lnTo>
                  <a:cubicBezTo>
                    <a:pt x="0" y="98679"/>
                    <a:pt x="197358" y="0"/>
                    <a:pt x="440817" y="0"/>
                  </a:cubicBezTo>
                  <a:close/>
                </a:path>
              </a:pathLst>
            </a:custGeom>
            <a:solidFill>
              <a:srgbClr val="FFFFFF"/>
            </a:solidFill>
          </p:spPr>
        </p:sp>
      </p:grpSp>
      <p:sp>
        <p:nvSpPr>
          <p:cNvPr name="TextBox 8" id="8"/>
          <p:cNvSpPr txBox="true"/>
          <p:nvPr/>
        </p:nvSpPr>
        <p:spPr>
          <a:xfrm rot="0">
            <a:off x="10515600" y="1506093"/>
            <a:ext cx="5760720" cy="478155"/>
          </a:xfrm>
          <a:prstGeom prst="rect">
            <a:avLst/>
          </a:prstGeom>
        </p:spPr>
        <p:txBody>
          <a:bodyPr anchor="t" rtlCol="false" tIns="0" lIns="0" bIns="0" rIns="0">
            <a:spAutoFit/>
          </a:bodyPr>
          <a:lstStyle/>
          <a:p>
            <a:pPr algn="l">
              <a:lnSpc>
                <a:spcPts val="2832"/>
              </a:lnSpc>
            </a:pPr>
            <a:r>
              <a:rPr lang="en-US" sz="2000" b="true">
                <a:solidFill>
                  <a:srgbClr val="FFFFFF"/>
                </a:solidFill>
                <a:latin typeface="Poppins Bold"/>
                <a:ea typeface="Poppins Bold"/>
                <a:cs typeface="Poppins Bold"/>
                <a:sym typeface="Poppins Bold"/>
              </a:rPr>
              <a:t>04 PEMBAHASAN</a:t>
            </a:r>
          </a:p>
        </p:txBody>
      </p:sp>
      <p:sp>
        <p:nvSpPr>
          <p:cNvPr name="TextBox 9" id="9"/>
          <p:cNvSpPr txBox="true"/>
          <p:nvPr/>
        </p:nvSpPr>
        <p:spPr>
          <a:xfrm rot="0">
            <a:off x="1874520" y="2637282"/>
            <a:ext cx="14538960" cy="1002030"/>
          </a:xfrm>
          <a:prstGeom prst="rect">
            <a:avLst/>
          </a:prstGeom>
        </p:spPr>
        <p:txBody>
          <a:bodyPr anchor="t" rtlCol="false" tIns="0" lIns="0" bIns="0" rIns="0">
            <a:spAutoFit/>
          </a:bodyPr>
          <a:lstStyle/>
          <a:p>
            <a:pPr algn="l">
              <a:lnSpc>
                <a:spcPts val="6513"/>
              </a:lnSpc>
            </a:pPr>
            <a:r>
              <a:rPr lang="en-US" sz="4599" b="true">
                <a:solidFill>
                  <a:srgbClr val="572525"/>
                </a:solidFill>
                <a:latin typeface="Poppins Bold"/>
                <a:ea typeface="Poppins Bold"/>
                <a:cs typeface="Poppins Bold"/>
                <a:sym typeface="Poppins Bold"/>
              </a:rPr>
              <a:t>4. Pembahasan dan keterbatasan</a:t>
            </a:r>
          </a:p>
        </p:txBody>
      </p:sp>
      <p:sp>
        <p:nvSpPr>
          <p:cNvPr name="TextBox 10" id="10"/>
          <p:cNvSpPr txBox="true"/>
          <p:nvPr/>
        </p:nvSpPr>
        <p:spPr>
          <a:xfrm rot="0">
            <a:off x="1901952" y="9078087"/>
            <a:ext cx="14447520" cy="303657"/>
          </a:xfrm>
          <a:prstGeom prst="rect">
            <a:avLst/>
          </a:prstGeom>
        </p:spPr>
        <p:txBody>
          <a:bodyPr anchor="t" rtlCol="false" tIns="0" lIns="0" bIns="0" rIns="0">
            <a:spAutoFit/>
          </a:bodyPr>
          <a:lstStyle/>
          <a:p>
            <a:pPr algn="l">
              <a:lnSpc>
                <a:spcPts val="1982"/>
              </a:lnSpc>
            </a:pPr>
            <a:r>
              <a:rPr lang="en-US" sz="1400" b="true">
                <a:solidFill>
                  <a:srgbClr val="572525"/>
                </a:solidFill>
                <a:latin typeface="Poppins Semi-Bold"/>
                <a:ea typeface="Poppins Semi-Bold"/>
                <a:cs typeface="Poppins Semi-Bold"/>
                <a:sym typeface="Poppins Semi-Bold"/>
              </a:rPr>
              <a:t>04 Pembahasan     14</a:t>
            </a:r>
          </a:p>
        </p:txBody>
      </p:sp>
      <p:sp>
        <p:nvSpPr>
          <p:cNvPr name="TextBox 11" id="11"/>
          <p:cNvSpPr txBox="true"/>
          <p:nvPr/>
        </p:nvSpPr>
        <p:spPr>
          <a:xfrm rot="0">
            <a:off x="2011680" y="3891915"/>
            <a:ext cx="13898880" cy="4466615"/>
          </a:xfrm>
          <a:prstGeom prst="rect">
            <a:avLst/>
          </a:prstGeom>
        </p:spPr>
        <p:txBody>
          <a:bodyPr anchor="t" rtlCol="false" tIns="0" lIns="0" bIns="0" rIns="0">
            <a:spAutoFit/>
          </a:bodyPr>
          <a:lstStyle/>
          <a:p>
            <a:pPr algn="l">
              <a:lnSpc>
                <a:spcPts val="3964"/>
              </a:lnSpc>
            </a:pPr>
            <a:r>
              <a:rPr lang="en-US" sz="2799" b="true">
                <a:solidFill>
                  <a:srgbClr val="572525"/>
                </a:solidFill>
                <a:latin typeface="Poppins Semi-Bold"/>
                <a:ea typeface="Poppins Semi-Bold"/>
                <a:cs typeface="Poppins Semi-Bold"/>
                <a:sym typeface="Poppins Semi-Bold"/>
              </a:rPr>
              <a:t>Ridge memberikan hasil terbaik pada empat regresor utama. Regularisasi relevan pada fitur 1.024 dimensi dan kohort kecil, tetapi penyebab keunggulannya belum diuji khusus.</a:t>
            </a:r>
          </a:p>
          <a:p>
            <a:pPr algn="l">
              <a:lnSpc>
                <a:spcPts val="3964"/>
              </a:lnSpc>
            </a:pPr>
          </a:p>
          <a:p>
            <a:pPr algn="l">
              <a:lnSpc>
                <a:spcPts val="3964"/>
              </a:lnSpc>
            </a:pPr>
            <a:r>
              <a:rPr lang="en-US" sz="2799" b="true">
                <a:solidFill>
                  <a:srgbClr val="572525"/>
                </a:solidFill>
                <a:latin typeface="Poppins Semi-Bold"/>
                <a:ea typeface="Poppins Semi-Bold"/>
                <a:cs typeface="Poppins Semi-Bold"/>
                <a:sym typeface="Poppins Semi-Bold"/>
              </a:rPr>
              <a:t>Performa berbeda antarsektor. Keunggulan ensemble kecil dan belum pasti. UCB1 belum konsisten mengungguli random.</a:t>
            </a:r>
          </a:p>
          <a:p>
            <a:pPr algn="l">
              <a:lnSpc>
                <a:spcPts val="3964"/>
              </a:lnSpc>
            </a:pPr>
          </a:p>
          <a:p>
            <a:pPr algn="l">
              <a:lnSpc>
                <a:spcPts val="3964"/>
              </a:lnSpc>
            </a:pPr>
            <a:r>
              <a:rPr lang="en-US" sz="2799" b="true">
                <a:solidFill>
                  <a:srgbClr val="572525"/>
                </a:solidFill>
                <a:latin typeface="Poppins Semi-Bold"/>
                <a:ea typeface="Poppins Semi-Bold"/>
                <a:cs typeface="Poppins Semi-Bold"/>
                <a:sym typeface="Poppins Semi-Bold"/>
              </a:rPr>
              <a:t>Batasan: 84 pasien, pairing fundus–OCT belum terverifikasi tanggalnya, serta belum ada uji eksternal atau pembandingan backbone.</a:t>
            </a: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1713090" y="1431284"/>
            <a:ext cx="659244" cy="659244"/>
          </a:xfrm>
          <a:custGeom>
            <a:avLst/>
            <a:gdLst/>
            <a:ahLst/>
            <a:cxnLst/>
            <a:rect r="r" b="b" t="t" l="l"/>
            <a:pathLst>
              <a:path h="659244" w="659244">
                <a:moveTo>
                  <a:pt x="0" y="0"/>
                </a:moveTo>
                <a:lnTo>
                  <a:pt x="659245" y="0"/>
                </a:lnTo>
                <a:lnTo>
                  <a:pt x="659245" y="659244"/>
                </a:lnTo>
                <a:lnTo>
                  <a:pt x="0" y="6592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597706" y="1553204"/>
            <a:ext cx="5943600" cy="434473"/>
          </a:xfrm>
          <a:prstGeom prst="rect">
            <a:avLst/>
          </a:prstGeom>
        </p:spPr>
        <p:txBody>
          <a:bodyPr anchor="t" rtlCol="false" tIns="0" lIns="0" bIns="0" rIns="0">
            <a:spAutoFit/>
          </a:bodyPr>
          <a:lstStyle/>
          <a:p>
            <a:pPr algn="l">
              <a:lnSpc>
                <a:spcPts val="3231"/>
              </a:lnSpc>
            </a:pPr>
            <a:r>
              <a:rPr lang="en-US" sz="2991" b="true">
                <a:solidFill>
                  <a:srgbClr val="FFFFFF"/>
                </a:solidFill>
                <a:latin typeface="Poppins Bold"/>
                <a:ea typeface="Poppins Bold"/>
                <a:cs typeface="Poppins Bold"/>
                <a:sym typeface="Poppins Bold"/>
              </a:rPr>
              <a:t>ETS Machine Learning</a:t>
            </a:r>
          </a:p>
        </p:txBody>
      </p:sp>
      <p:grpSp>
        <p:nvGrpSpPr>
          <p:cNvPr name="Group 6" id="6"/>
          <p:cNvGrpSpPr/>
          <p:nvPr/>
        </p:nvGrpSpPr>
        <p:grpSpPr>
          <a:xfrm rot="0">
            <a:off x="1371600" y="2423160"/>
            <a:ext cx="15544800" cy="7178040"/>
            <a:chOff x="0" y="0"/>
            <a:chExt cx="20726400" cy="9570720"/>
          </a:xfrm>
        </p:grpSpPr>
        <p:sp>
          <p:nvSpPr>
            <p:cNvPr name="Freeform 7" id="7"/>
            <p:cNvSpPr/>
            <p:nvPr/>
          </p:nvSpPr>
          <p:spPr>
            <a:xfrm flipH="false" flipV="false" rot="0">
              <a:off x="0" y="0"/>
              <a:ext cx="20726400" cy="9570720"/>
            </a:xfrm>
            <a:custGeom>
              <a:avLst/>
              <a:gdLst/>
              <a:ahLst/>
              <a:cxnLst/>
              <a:rect r="r" b="b" t="t" l="l"/>
              <a:pathLst>
                <a:path h="9570720" w="20726400">
                  <a:moveTo>
                    <a:pt x="440817" y="0"/>
                  </a:moveTo>
                  <a:lnTo>
                    <a:pt x="20285583" y="0"/>
                  </a:lnTo>
                  <a:cubicBezTo>
                    <a:pt x="20402550" y="0"/>
                    <a:pt x="20514692" y="23241"/>
                    <a:pt x="20597369" y="64516"/>
                  </a:cubicBezTo>
                  <a:cubicBezTo>
                    <a:pt x="20680046" y="105791"/>
                    <a:pt x="20726400" y="161925"/>
                    <a:pt x="20726400" y="220345"/>
                  </a:cubicBezTo>
                  <a:lnTo>
                    <a:pt x="20726400" y="9350375"/>
                  </a:lnTo>
                  <a:cubicBezTo>
                    <a:pt x="20726400" y="9472041"/>
                    <a:pt x="20529042" y="9570720"/>
                    <a:pt x="20285583" y="9570720"/>
                  </a:cubicBezTo>
                  <a:lnTo>
                    <a:pt x="440817" y="9570720"/>
                  </a:lnTo>
                  <a:cubicBezTo>
                    <a:pt x="323850" y="9570720"/>
                    <a:pt x="211709" y="9547479"/>
                    <a:pt x="129159" y="9506204"/>
                  </a:cubicBezTo>
                  <a:cubicBezTo>
                    <a:pt x="46609" y="9464929"/>
                    <a:pt x="0" y="9408795"/>
                    <a:pt x="0" y="9350375"/>
                  </a:cubicBezTo>
                  <a:lnTo>
                    <a:pt x="0" y="220345"/>
                  </a:lnTo>
                  <a:cubicBezTo>
                    <a:pt x="0" y="98679"/>
                    <a:pt x="197358" y="0"/>
                    <a:pt x="440817" y="0"/>
                  </a:cubicBezTo>
                  <a:close/>
                </a:path>
              </a:pathLst>
            </a:custGeom>
            <a:solidFill>
              <a:srgbClr val="FFFFFF"/>
            </a:solidFill>
          </p:spPr>
        </p:sp>
      </p:grpSp>
      <p:sp>
        <p:nvSpPr>
          <p:cNvPr name="TextBox 8" id="8"/>
          <p:cNvSpPr txBox="true"/>
          <p:nvPr/>
        </p:nvSpPr>
        <p:spPr>
          <a:xfrm rot="0">
            <a:off x="10515600" y="1506093"/>
            <a:ext cx="5760720" cy="478155"/>
          </a:xfrm>
          <a:prstGeom prst="rect">
            <a:avLst/>
          </a:prstGeom>
        </p:spPr>
        <p:txBody>
          <a:bodyPr anchor="t" rtlCol="false" tIns="0" lIns="0" bIns="0" rIns="0">
            <a:spAutoFit/>
          </a:bodyPr>
          <a:lstStyle/>
          <a:p>
            <a:pPr algn="l">
              <a:lnSpc>
                <a:spcPts val="2832"/>
              </a:lnSpc>
            </a:pPr>
            <a:r>
              <a:rPr lang="en-US" sz="2000" b="true">
                <a:solidFill>
                  <a:srgbClr val="FFFFFF"/>
                </a:solidFill>
                <a:latin typeface="Poppins Bold"/>
                <a:ea typeface="Poppins Bold"/>
                <a:cs typeface="Poppins Bold"/>
                <a:sym typeface="Poppins Bold"/>
              </a:rPr>
              <a:t>05 KESIMPULAN</a:t>
            </a:r>
          </a:p>
        </p:txBody>
      </p:sp>
      <p:sp>
        <p:nvSpPr>
          <p:cNvPr name="TextBox 9" id="9"/>
          <p:cNvSpPr txBox="true"/>
          <p:nvPr/>
        </p:nvSpPr>
        <p:spPr>
          <a:xfrm rot="0">
            <a:off x="1874520" y="2637282"/>
            <a:ext cx="14538960" cy="1002030"/>
          </a:xfrm>
          <a:prstGeom prst="rect">
            <a:avLst/>
          </a:prstGeom>
        </p:spPr>
        <p:txBody>
          <a:bodyPr anchor="t" rtlCol="false" tIns="0" lIns="0" bIns="0" rIns="0">
            <a:spAutoFit/>
          </a:bodyPr>
          <a:lstStyle/>
          <a:p>
            <a:pPr algn="l">
              <a:lnSpc>
                <a:spcPts val="6513"/>
              </a:lnSpc>
            </a:pPr>
            <a:r>
              <a:rPr lang="en-US" sz="4599" b="true">
                <a:solidFill>
                  <a:srgbClr val="572525"/>
                </a:solidFill>
                <a:latin typeface="Poppins Bold"/>
                <a:ea typeface="Poppins Bold"/>
                <a:cs typeface="Poppins Bold"/>
                <a:sym typeface="Poppins Bold"/>
              </a:rPr>
              <a:t>5. Kesimpulan</a:t>
            </a:r>
          </a:p>
        </p:txBody>
      </p:sp>
      <p:sp>
        <p:nvSpPr>
          <p:cNvPr name="TextBox 10" id="10"/>
          <p:cNvSpPr txBox="true"/>
          <p:nvPr/>
        </p:nvSpPr>
        <p:spPr>
          <a:xfrm rot="0">
            <a:off x="1901952" y="9078087"/>
            <a:ext cx="14447520" cy="256870"/>
          </a:xfrm>
          <a:prstGeom prst="rect">
            <a:avLst/>
          </a:prstGeom>
        </p:spPr>
        <p:txBody>
          <a:bodyPr anchor="t" rtlCol="false" tIns="0" lIns="0" bIns="0" rIns="0">
            <a:spAutoFit/>
          </a:bodyPr>
          <a:lstStyle/>
          <a:p>
            <a:pPr algn="l">
              <a:lnSpc>
                <a:spcPts val="1982"/>
              </a:lnSpc>
            </a:pPr>
            <a:r>
              <a:rPr lang="en-US" sz="1400" b="true">
                <a:solidFill>
                  <a:srgbClr val="572525"/>
                </a:solidFill>
                <a:latin typeface="Poppins Semi-Bold"/>
                <a:ea typeface="Poppins Semi-Bold"/>
                <a:cs typeface="Poppins Semi-Bold"/>
                <a:sym typeface="Poppins Semi-Bold"/>
              </a:rPr>
              <a:t>05 Kesimpulan     16</a:t>
            </a:r>
          </a:p>
        </p:txBody>
      </p:sp>
      <p:sp>
        <p:nvSpPr>
          <p:cNvPr name="TextBox 11" id="11"/>
          <p:cNvSpPr txBox="true"/>
          <p:nvPr/>
        </p:nvSpPr>
        <p:spPr>
          <a:xfrm rot="0">
            <a:off x="2011680" y="3891915"/>
            <a:ext cx="13898880" cy="4466615"/>
          </a:xfrm>
          <a:prstGeom prst="rect">
            <a:avLst/>
          </a:prstGeom>
        </p:spPr>
        <p:txBody>
          <a:bodyPr anchor="t" rtlCol="false" tIns="0" lIns="0" bIns="0" rIns="0">
            <a:spAutoFit/>
          </a:bodyPr>
          <a:lstStyle/>
          <a:p>
            <a:pPr algn="l">
              <a:lnSpc>
                <a:spcPts val="3964"/>
              </a:lnSpc>
            </a:pPr>
            <a:r>
              <a:rPr lang="en-US" sz="2799" b="true">
                <a:solidFill>
                  <a:srgbClr val="572525"/>
                </a:solidFill>
                <a:latin typeface="Poppins Semi-Bold"/>
                <a:ea typeface="Poppins Semi-Bold"/>
                <a:cs typeface="Poppins Semi-Bold"/>
                <a:sym typeface="Poppins Semi-Bold"/>
              </a:rPr>
              <a:t>Foto fundus dengan fitur RETFound frozen mendukung eksperimen regresi RNFL 12 sektor menggunakan evaluasi berbasis pasien.</a:t>
            </a:r>
          </a:p>
          <a:p>
            <a:pPr algn="l">
              <a:lnSpc>
                <a:spcPts val="3964"/>
              </a:lnSpc>
            </a:pPr>
          </a:p>
          <a:p>
            <a:pPr algn="l">
              <a:lnSpc>
                <a:spcPts val="3964"/>
              </a:lnSpc>
            </a:pPr>
            <a:r>
              <a:rPr lang="en-US" sz="2799" b="true">
                <a:solidFill>
                  <a:srgbClr val="572525"/>
                </a:solidFill>
                <a:latin typeface="Poppins Semi-Bold"/>
                <a:ea typeface="Poppins Semi-Bold"/>
                <a:cs typeface="Poppins Semi-Bold"/>
                <a:sym typeface="Poppins Semi-Bold"/>
              </a:rPr>
              <a:t>Ridge menjadi pilihan utama: MAE OOF 20,63 µm dan R² 0,592. Ensemble + augmentasi mencatat MAE terendah secara numerik, tanpa keunggulan yang meyakinkan.</a:t>
            </a:r>
          </a:p>
          <a:p>
            <a:pPr algn="l">
              <a:lnSpc>
                <a:spcPts val="3964"/>
              </a:lnSpc>
            </a:pPr>
          </a:p>
          <a:p>
            <a:pPr algn="l">
              <a:lnSpc>
                <a:spcPts val="3964"/>
              </a:lnSpc>
            </a:pPr>
            <a:r>
              <a:rPr lang="en-US" sz="2799" b="true">
                <a:solidFill>
                  <a:srgbClr val="572525"/>
                </a:solidFill>
                <a:latin typeface="Poppins Semi-Bold"/>
                <a:ea typeface="Poppins Semi-Bold"/>
                <a:cs typeface="Poppins Semi-Bold"/>
                <a:sym typeface="Poppins Semi-Bold"/>
              </a:rPr>
              <a:t>Langkah berikutnya: verifikasi pairing dan label, perluas kohort, lalu lakukan uji eksternal sebelum menilai penerapan klinis.</a:t>
            </a: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1713090" y="1431284"/>
            <a:ext cx="659244" cy="659244"/>
          </a:xfrm>
          <a:custGeom>
            <a:avLst/>
            <a:gdLst/>
            <a:ahLst/>
            <a:cxnLst/>
            <a:rect r="r" b="b" t="t" l="l"/>
            <a:pathLst>
              <a:path h="659244" w="659244">
                <a:moveTo>
                  <a:pt x="0" y="0"/>
                </a:moveTo>
                <a:lnTo>
                  <a:pt x="659245" y="0"/>
                </a:lnTo>
                <a:lnTo>
                  <a:pt x="659245" y="659244"/>
                </a:lnTo>
                <a:lnTo>
                  <a:pt x="0" y="6592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597706" y="1553204"/>
            <a:ext cx="5943600" cy="434473"/>
          </a:xfrm>
          <a:prstGeom prst="rect">
            <a:avLst/>
          </a:prstGeom>
        </p:spPr>
        <p:txBody>
          <a:bodyPr anchor="t" rtlCol="false" tIns="0" lIns="0" bIns="0" rIns="0">
            <a:spAutoFit/>
          </a:bodyPr>
          <a:lstStyle/>
          <a:p>
            <a:pPr algn="l">
              <a:lnSpc>
                <a:spcPts val="3231"/>
              </a:lnSpc>
            </a:pPr>
            <a:r>
              <a:rPr lang="en-US" sz="2991" b="true">
                <a:solidFill>
                  <a:srgbClr val="FFFFFF"/>
                </a:solidFill>
                <a:latin typeface="Poppins Bold"/>
                <a:ea typeface="Poppins Bold"/>
                <a:cs typeface="Poppins Bold"/>
                <a:sym typeface="Poppins Bold"/>
              </a:rPr>
              <a:t>ETS Machine Learning</a:t>
            </a:r>
          </a:p>
        </p:txBody>
      </p:sp>
      <p:grpSp>
        <p:nvGrpSpPr>
          <p:cNvPr name="Group 6" id="6"/>
          <p:cNvGrpSpPr/>
          <p:nvPr/>
        </p:nvGrpSpPr>
        <p:grpSpPr>
          <a:xfrm rot="0">
            <a:off x="1371600" y="2423160"/>
            <a:ext cx="15544800" cy="7178040"/>
            <a:chOff x="0" y="0"/>
            <a:chExt cx="20726400" cy="9570720"/>
          </a:xfrm>
        </p:grpSpPr>
        <p:sp>
          <p:nvSpPr>
            <p:cNvPr name="Freeform 7" id="7"/>
            <p:cNvSpPr/>
            <p:nvPr/>
          </p:nvSpPr>
          <p:spPr>
            <a:xfrm flipH="false" flipV="false" rot="0">
              <a:off x="0" y="0"/>
              <a:ext cx="20726400" cy="9570720"/>
            </a:xfrm>
            <a:custGeom>
              <a:avLst/>
              <a:gdLst/>
              <a:ahLst/>
              <a:cxnLst/>
              <a:rect r="r" b="b" t="t" l="l"/>
              <a:pathLst>
                <a:path h="9570720" w="20726400">
                  <a:moveTo>
                    <a:pt x="440817" y="0"/>
                  </a:moveTo>
                  <a:lnTo>
                    <a:pt x="20285583" y="0"/>
                  </a:lnTo>
                  <a:cubicBezTo>
                    <a:pt x="20402550" y="0"/>
                    <a:pt x="20514692" y="23241"/>
                    <a:pt x="20597369" y="64516"/>
                  </a:cubicBezTo>
                  <a:cubicBezTo>
                    <a:pt x="20680046" y="105791"/>
                    <a:pt x="20726400" y="161925"/>
                    <a:pt x="20726400" y="220345"/>
                  </a:cubicBezTo>
                  <a:lnTo>
                    <a:pt x="20726400" y="9350375"/>
                  </a:lnTo>
                  <a:cubicBezTo>
                    <a:pt x="20726400" y="9472041"/>
                    <a:pt x="20529042" y="9570720"/>
                    <a:pt x="20285583" y="9570720"/>
                  </a:cubicBezTo>
                  <a:lnTo>
                    <a:pt x="440817" y="9570720"/>
                  </a:lnTo>
                  <a:cubicBezTo>
                    <a:pt x="323850" y="9570720"/>
                    <a:pt x="211709" y="9547479"/>
                    <a:pt x="129159" y="9506204"/>
                  </a:cubicBezTo>
                  <a:cubicBezTo>
                    <a:pt x="46609" y="9464929"/>
                    <a:pt x="0" y="9408795"/>
                    <a:pt x="0" y="9350375"/>
                  </a:cubicBezTo>
                  <a:lnTo>
                    <a:pt x="0" y="220345"/>
                  </a:lnTo>
                  <a:cubicBezTo>
                    <a:pt x="0" y="98679"/>
                    <a:pt x="197358" y="0"/>
                    <a:pt x="440817" y="0"/>
                  </a:cubicBezTo>
                  <a:close/>
                </a:path>
              </a:pathLst>
            </a:custGeom>
            <a:solidFill>
              <a:srgbClr val="FFFFFF"/>
            </a:solidFill>
          </p:spPr>
        </p:sp>
      </p:grpSp>
      <p:sp>
        <p:nvSpPr>
          <p:cNvPr name="TextBox 8" id="8"/>
          <p:cNvSpPr txBox="true"/>
          <p:nvPr/>
        </p:nvSpPr>
        <p:spPr>
          <a:xfrm rot="0">
            <a:off x="10515600" y="1506093"/>
            <a:ext cx="5760720" cy="478155"/>
          </a:xfrm>
          <a:prstGeom prst="rect">
            <a:avLst/>
          </a:prstGeom>
        </p:spPr>
        <p:txBody>
          <a:bodyPr anchor="t" rtlCol="false" tIns="0" lIns="0" bIns="0" rIns="0">
            <a:spAutoFit/>
          </a:bodyPr>
          <a:lstStyle/>
          <a:p>
            <a:pPr algn="l">
              <a:lnSpc>
                <a:spcPts val="2832"/>
              </a:lnSpc>
            </a:pPr>
            <a:r>
              <a:rPr lang="en-US" sz="2000" b="true">
                <a:solidFill>
                  <a:srgbClr val="FFFFFF"/>
                </a:solidFill>
                <a:latin typeface="Poppins Bold"/>
                <a:ea typeface="Poppins Bold"/>
                <a:cs typeface="Poppins Bold"/>
                <a:sym typeface="Poppins Bold"/>
              </a:rPr>
              <a:t>05 KESIMPULAN</a:t>
            </a:r>
          </a:p>
        </p:txBody>
      </p:sp>
      <p:sp>
        <p:nvSpPr>
          <p:cNvPr name="TextBox 9" id="9"/>
          <p:cNvSpPr txBox="true"/>
          <p:nvPr/>
        </p:nvSpPr>
        <p:spPr>
          <a:xfrm rot="0">
            <a:off x="3163972" y="4244040"/>
            <a:ext cx="11960055" cy="2425284"/>
          </a:xfrm>
          <a:prstGeom prst="rect">
            <a:avLst/>
          </a:prstGeom>
        </p:spPr>
        <p:txBody>
          <a:bodyPr anchor="t" rtlCol="false" tIns="0" lIns="0" bIns="0" rIns="0">
            <a:spAutoFit/>
          </a:bodyPr>
          <a:lstStyle/>
          <a:p>
            <a:pPr algn="ctr">
              <a:lnSpc>
                <a:spcPts val="9585"/>
              </a:lnSpc>
            </a:pPr>
            <a:r>
              <a:rPr lang="en-US" sz="6769" b="true">
                <a:solidFill>
                  <a:srgbClr val="572525"/>
                </a:solidFill>
                <a:latin typeface="Poppins Bold"/>
                <a:ea typeface="Poppins Bold"/>
                <a:cs typeface="Poppins Bold"/>
                <a:sym typeface="Poppins Bold"/>
              </a:rPr>
              <a:t>Terimakasih, Apakah Ada Yang Ingin Ditanyakan</a:t>
            </a:r>
          </a:p>
        </p:txBody>
      </p:sp>
      <p:sp>
        <p:nvSpPr>
          <p:cNvPr name="TextBox 10" id="10"/>
          <p:cNvSpPr txBox="true"/>
          <p:nvPr/>
        </p:nvSpPr>
        <p:spPr>
          <a:xfrm rot="0">
            <a:off x="1901952" y="9078087"/>
            <a:ext cx="14447520" cy="256870"/>
          </a:xfrm>
          <a:prstGeom prst="rect">
            <a:avLst/>
          </a:prstGeom>
        </p:spPr>
        <p:txBody>
          <a:bodyPr anchor="t" rtlCol="false" tIns="0" lIns="0" bIns="0" rIns="0">
            <a:spAutoFit/>
          </a:bodyPr>
          <a:lstStyle/>
          <a:p>
            <a:pPr algn="l">
              <a:lnSpc>
                <a:spcPts val="1982"/>
              </a:lnSpc>
            </a:pPr>
            <a:r>
              <a:rPr lang="en-US" sz="1400" b="true">
                <a:solidFill>
                  <a:srgbClr val="572525"/>
                </a:solidFill>
                <a:latin typeface="Poppins Semi-Bold"/>
                <a:ea typeface="Poppins Semi-Bold"/>
                <a:cs typeface="Poppins Semi-Bold"/>
                <a:sym typeface="Poppins Semi-Bold"/>
              </a:rPr>
              <a:t>Penutup </a:t>
            </a:r>
            <a:r>
              <a:rPr lang="en-US" sz="1400" b="true">
                <a:solidFill>
                  <a:srgbClr val="572525"/>
                </a:solidFill>
                <a:latin typeface="Poppins Semi-Bold"/>
                <a:ea typeface="Poppins Semi-Bold"/>
                <a:cs typeface="Poppins Semi-Bold"/>
                <a:sym typeface="Poppins Semi-Bold"/>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DAHYjvuB8SY</dc:identifier>
  <dcterms:modified xsi:type="dcterms:W3CDTF">2011-08-01T06:04:30Z</dcterms:modified>
  <cp:revision>1</cp:revision>
  <dc:title>Presentasi_ETS_Prediksi_RNFL_15_Slide.pptx</dc:title>
</cp:coreProperties>
</file>